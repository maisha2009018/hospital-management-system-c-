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77" r:id="rId4"/>
    <p:sldId id="278" r:id="rId5"/>
    <p:sldId id="279" r:id="rId6"/>
    <p:sldId id="280" r:id="rId7"/>
    <p:sldId id="261" r:id="rId8"/>
    <p:sldId id="257" r:id="rId9"/>
    <p:sldId id="270" r:id="rId10"/>
    <p:sldId id="271" r:id="rId11"/>
    <p:sldId id="272" r:id="rId12"/>
    <p:sldId id="273" r:id="rId13"/>
    <p:sldId id="274" r:id="rId14"/>
    <p:sldId id="285" r:id="rId15"/>
    <p:sldId id="286" r:id="rId16"/>
    <p:sldId id="287" r:id="rId17"/>
    <p:sldId id="269" r:id="rId18"/>
    <p:sldId id="288" r:id="rId19"/>
    <p:sldId id="267" r:id="rId20"/>
    <p:sldId id="289" r:id="rId21"/>
    <p:sldId id="291" r:id="rId22"/>
    <p:sldId id="290" r:id="rId23"/>
    <p:sldId id="284" r:id="rId24"/>
    <p:sldId id="275" r:id="rId25"/>
    <p:sldId id="293" r:id="rId26"/>
    <p:sldId id="283" r:id="rId27"/>
    <p:sldId id="276" r:id="rId28"/>
    <p:sldId id="292" r:id="rId29"/>
    <p:sldId id="294" r:id="rId30"/>
    <p:sldId id="282" r:id="rId31"/>
    <p:sldId id="281" r:id="rId32"/>
    <p:sldId id="268" r:id="rId33"/>
    <p:sldId id="264" r:id="rId34"/>
    <p:sldId id="266" r:id="rId35"/>
  </p:sldIdLst>
  <p:sldSz cx="18288000" cy="10287000"/>
  <p:notesSz cx="6858000" cy="9144000"/>
  <p:embeddedFontLst>
    <p:embeddedFont>
      <p:font typeface="Agrandir Medium" panose="020B0604020202020204" charset="0"/>
      <p:regular r:id="rId37"/>
    </p:embeddedFont>
    <p:embeddedFont>
      <p:font typeface="Alfa Slab One" panose="020B0604020202020204" charset="0"/>
      <p:regular r:id="rId38"/>
    </p:embeddedFont>
    <p:embeddedFont>
      <p:font typeface="Algerian" panose="04020705040A02060702" pitchFamily="82" charset="0"/>
      <p:regular r:id="rId39"/>
    </p:embeddedFont>
    <p:embeddedFont>
      <p:font typeface="Arial Black" panose="020B0A04020102020204" pitchFamily="34" charset="0"/>
      <p:bold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Elephant" panose="02020904090505020303" pitchFamily="18" charset="0"/>
      <p:regular r:id="rId45"/>
      <p:italic r:id="rId46"/>
    </p:embeddedFont>
    <p:embeddedFont>
      <p:font typeface="Now" panose="020B0604020202020204" charset="0"/>
      <p:regular r:id="rId47"/>
    </p:embeddedFont>
    <p:embeddedFont>
      <p:font typeface="Now Bold" panose="020B0604020202020204" charset="0"/>
      <p:regular r:id="rId48"/>
    </p:embeddedFont>
    <p:embeddedFont>
      <p:font typeface="Now Medium" panose="020B0604020202020204" charset="0"/>
      <p:regular r:id="rId49"/>
    </p:embeddedFont>
    <p:embeddedFont>
      <p:font typeface="Public Sans" panose="020B0604020202020204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B32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22" autoAdjust="0"/>
  </p:normalViewPr>
  <p:slideViewPr>
    <p:cSldViewPr>
      <p:cViewPr>
        <p:scale>
          <a:sx n="40" d="100"/>
          <a:sy n="40" d="100"/>
        </p:scale>
        <p:origin x="1550" y="4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8A0BD-6775-4FED-BE94-BEF6242F4FF7}" type="datetimeFigureOut">
              <a:rPr lang="en-US" smtClean="0"/>
              <a:t>11/12/2023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564C4-F9FC-4D37-AD0C-39CCEDF9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78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B564C4-F9FC-4D37-AD0C-39CCEDF91D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56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A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7330525" y="2389925"/>
            <a:ext cx="5186593" cy="1462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889"/>
              </a:lnSpc>
              <a:spcBef>
                <a:spcPct val="0"/>
              </a:spcBef>
            </a:pPr>
            <a:r>
              <a:rPr lang="en-US" sz="8492" dirty="0">
                <a:solidFill>
                  <a:srgbClr val="000000"/>
                </a:solidFill>
                <a:latin typeface="Alfa Slab One"/>
              </a:rPr>
              <a:t>Hospital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46331" y="5116472"/>
            <a:ext cx="6855904" cy="1294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45"/>
              </a:lnSpc>
              <a:spcBef>
                <a:spcPct val="0"/>
              </a:spcBef>
            </a:pPr>
            <a:r>
              <a:rPr lang="en-US" sz="7603" u="none" strike="noStrike" dirty="0">
                <a:solidFill>
                  <a:srgbClr val="000000"/>
                </a:solidFill>
                <a:latin typeface="Alfa Slab One"/>
              </a:rPr>
              <a:t>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59191" y="3783063"/>
            <a:ext cx="7158871" cy="136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15"/>
              </a:lnSpc>
              <a:spcBef>
                <a:spcPct val="0"/>
              </a:spcBef>
            </a:pPr>
            <a:r>
              <a:rPr lang="en-US" sz="7939" u="none" strike="noStrike" dirty="0">
                <a:solidFill>
                  <a:srgbClr val="E9292F"/>
                </a:solidFill>
                <a:latin typeface="Alfa Slab One"/>
              </a:rPr>
              <a:t>Management</a:t>
            </a:r>
          </a:p>
        </p:txBody>
      </p:sp>
      <p:sp>
        <p:nvSpPr>
          <p:cNvPr id="2" name="Freeform 2"/>
          <p:cNvSpPr/>
          <p:nvPr/>
        </p:nvSpPr>
        <p:spPr>
          <a:xfrm>
            <a:off x="12751490" y="7104852"/>
            <a:ext cx="6371343" cy="7319877"/>
          </a:xfrm>
          <a:custGeom>
            <a:avLst/>
            <a:gdLst/>
            <a:ahLst/>
            <a:cxnLst/>
            <a:rect l="l" t="t" r="r" b="b"/>
            <a:pathLst>
              <a:path w="6371343" h="7319877">
                <a:moveTo>
                  <a:pt x="0" y="0"/>
                </a:moveTo>
                <a:lnTo>
                  <a:pt x="6371342" y="0"/>
                </a:lnTo>
                <a:lnTo>
                  <a:pt x="6371342" y="7319877"/>
                </a:lnTo>
                <a:lnTo>
                  <a:pt x="0" y="7319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17749" y="7312565"/>
            <a:ext cx="6009750" cy="6904452"/>
          </a:xfrm>
          <a:custGeom>
            <a:avLst/>
            <a:gdLst/>
            <a:ahLst/>
            <a:cxnLst/>
            <a:rect l="l" t="t" r="r" b="b"/>
            <a:pathLst>
              <a:path w="6009750" h="6904452">
                <a:moveTo>
                  <a:pt x="0" y="0"/>
                </a:moveTo>
                <a:lnTo>
                  <a:pt x="6009750" y="0"/>
                </a:lnTo>
                <a:lnTo>
                  <a:pt x="6009750" y="6904451"/>
                </a:lnTo>
                <a:lnTo>
                  <a:pt x="0" y="69044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269348">
            <a:off x="7750083" y="1171248"/>
            <a:ext cx="7915007" cy="9652063"/>
          </a:xfrm>
          <a:custGeom>
            <a:avLst/>
            <a:gdLst/>
            <a:ahLst/>
            <a:cxnLst/>
            <a:rect l="l" t="t" r="r" b="b"/>
            <a:pathLst>
              <a:path w="9280368" h="10543713">
                <a:moveTo>
                  <a:pt x="0" y="0"/>
                </a:moveTo>
                <a:lnTo>
                  <a:pt x="9280368" y="0"/>
                </a:lnTo>
                <a:lnTo>
                  <a:pt x="9280368" y="10543714"/>
                </a:lnTo>
                <a:lnTo>
                  <a:pt x="0" y="10543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 rot="-316721">
            <a:off x="2964027" y="734474"/>
            <a:ext cx="4861784" cy="10058400"/>
          </a:xfrm>
          <a:custGeom>
            <a:avLst/>
            <a:gdLst/>
            <a:ahLst/>
            <a:cxnLst/>
            <a:rect l="l" t="t" r="r" b="b"/>
            <a:pathLst>
              <a:path w="5205705" h="10440223">
                <a:moveTo>
                  <a:pt x="0" y="0"/>
                </a:moveTo>
                <a:lnTo>
                  <a:pt x="5205705" y="0"/>
                </a:lnTo>
                <a:lnTo>
                  <a:pt x="5205705" y="10440223"/>
                </a:lnTo>
                <a:lnTo>
                  <a:pt x="0" y="104402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3106" t="139" r="-3106" b="-1800"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93827E-7 L -0.24783 0.0009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96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32099E-6 L 0.29827 0.0007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13" y="3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276 0.01265 L 0.22318 -0.0027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97" y="-77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186 3.7037E-6 L -0.227 0.01574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443" y="7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  <p:bldP spid="2" grpId="0" animBg="1"/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0FC3B-C3FD-0104-9F73-757E839684FE}"/>
              </a:ext>
            </a:extLst>
          </p:cNvPr>
          <p:cNvSpPr/>
          <p:nvPr/>
        </p:nvSpPr>
        <p:spPr>
          <a:xfrm>
            <a:off x="-14748" y="8937647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and a cross on a table&#10;&#10;Description automatically generated with medium confidence">
            <a:extLst>
              <a:ext uri="{FF2B5EF4-FFF2-40B4-BE49-F238E27FC236}">
                <a16:creationId xmlns:a16="http://schemas.microsoft.com/office/drawing/2014/main" id="{AD90E33D-A5D7-2D26-F4E6-040A7282B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02256"/>
            <a:ext cx="6172200" cy="6172200"/>
          </a:xfrm>
          <a:prstGeom prst="rect">
            <a:avLst/>
          </a:prstGeom>
        </p:spPr>
      </p:pic>
      <p:pic>
        <p:nvPicPr>
          <p:cNvPr id="7" name="Picture 6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9A2621B-B65C-1421-76E1-3F5768F997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683593" y="2871218"/>
            <a:ext cx="1143000" cy="10287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386268D-754A-E62F-0220-13DDB69DC98E}"/>
              </a:ext>
            </a:extLst>
          </p:cNvPr>
          <p:cNvGrpSpPr/>
          <p:nvPr/>
        </p:nvGrpSpPr>
        <p:grpSpPr>
          <a:xfrm>
            <a:off x="7658100" y="501935"/>
            <a:ext cx="8686800" cy="3077766"/>
            <a:chOff x="7848600" y="1593117"/>
            <a:chExt cx="8686800" cy="307776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832E4E6-C0D8-57E6-61C3-AC8159E25AB5}"/>
                </a:ext>
              </a:extLst>
            </p:cNvPr>
            <p:cNvSpPr/>
            <p:nvPr/>
          </p:nvSpPr>
          <p:spPr>
            <a:xfrm>
              <a:off x="7848600" y="1593117"/>
              <a:ext cx="8686800" cy="233118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685409-1922-8861-790D-7FD8F4A2ED53}"/>
                </a:ext>
              </a:extLst>
            </p:cNvPr>
            <p:cNvSpPr txBox="1"/>
            <p:nvPr/>
          </p:nvSpPr>
          <p:spPr>
            <a:xfrm>
              <a:off x="8168148" y="1593117"/>
              <a:ext cx="8001000" cy="30777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at a normal doctor’s chamber or hospital , in a chaotic day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Receptionist usually manage all the patients and their matters manually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Which leads to: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E419814-2336-264C-6AC4-E99F2E218AEF}"/>
              </a:ext>
            </a:extLst>
          </p:cNvPr>
          <p:cNvSpPr/>
          <p:nvPr/>
        </p:nvSpPr>
        <p:spPr>
          <a:xfrm rot="5400000">
            <a:off x="8534400" y="4935856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EAC2EF-F181-2765-268E-97C118DE2F64}"/>
              </a:ext>
            </a:extLst>
          </p:cNvPr>
          <p:cNvSpPr/>
          <p:nvPr/>
        </p:nvSpPr>
        <p:spPr>
          <a:xfrm>
            <a:off x="7664552" y="3320380"/>
            <a:ext cx="3767294" cy="168051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Unable to document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EFEC9-B7B2-8C20-0BE1-63D9C8A57353}"/>
              </a:ext>
            </a:extLst>
          </p:cNvPr>
          <p:cNvSpPr/>
          <p:nvPr/>
        </p:nvSpPr>
        <p:spPr>
          <a:xfrm>
            <a:off x="7977647" y="5490089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Mentally laborious job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3CC436-FA00-21CD-9A3F-137BD0DE7FFF}"/>
              </a:ext>
            </a:extLst>
          </p:cNvPr>
          <p:cNvSpPr/>
          <p:nvPr/>
        </p:nvSpPr>
        <p:spPr>
          <a:xfrm>
            <a:off x="12193845" y="3682898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Emergency system mismanagement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7E961B-59E1-D3B5-4FD7-69E5474C8E6A}"/>
              </a:ext>
            </a:extLst>
          </p:cNvPr>
          <p:cNvSpPr/>
          <p:nvPr/>
        </p:nvSpPr>
        <p:spPr>
          <a:xfrm>
            <a:off x="12388952" y="5434481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Untraceable  information</a:t>
            </a:r>
          </a:p>
        </p:txBody>
      </p:sp>
    </p:spTree>
    <p:extLst>
      <p:ext uri="{BB962C8B-B14F-4D97-AF65-F5344CB8AC3E}">
        <p14:creationId xmlns:p14="http://schemas.microsoft.com/office/powerpoint/2010/main" val="37284206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9" grpId="0" animBg="1"/>
      <p:bldP spid="14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0FC3B-C3FD-0104-9F73-757E839684FE}"/>
              </a:ext>
            </a:extLst>
          </p:cNvPr>
          <p:cNvSpPr/>
          <p:nvPr/>
        </p:nvSpPr>
        <p:spPr>
          <a:xfrm>
            <a:off x="-14748" y="8937647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and a cross on a table&#10;&#10;Description automatically generated with medium confidence">
            <a:extLst>
              <a:ext uri="{FF2B5EF4-FFF2-40B4-BE49-F238E27FC236}">
                <a16:creationId xmlns:a16="http://schemas.microsoft.com/office/drawing/2014/main" id="{AD90E33D-A5D7-2D26-F4E6-040A7282B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02256"/>
            <a:ext cx="6172200" cy="6172200"/>
          </a:xfrm>
          <a:prstGeom prst="rect">
            <a:avLst/>
          </a:prstGeom>
        </p:spPr>
      </p:pic>
      <p:pic>
        <p:nvPicPr>
          <p:cNvPr id="7" name="Picture 6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9A2621B-B65C-1421-76E1-3F5768F997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743200" y="3086100"/>
            <a:ext cx="762000" cy="685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386268D-754A-E62F-0220-13DDB69DC98E}"/>
              </a:ext>
            </a:extLst>
          </p:cNvPr>
          <p:cNvGrpSpPr/>
          <p:nvPr/>
        </p:nvGrpSpPr>
        <p:grpSpPr>
          <a:xfrm>
            <a:off x="7658100" y="501935"/>
            <a:ext cx="8686800" cy="3077766"/>
            <a:chOff x="7848600" y="1593117"/>
            <a:chExt cx="8686800" cy="307776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832E4E6-C0D8-57E6-61C3-AC8159E25AB5}"/>
                </a:ext>
              </a:extLst>
            </p:cNvPr>
            <p:cNvSpPr/>
            <p:nvPr/>
          </p:nvSpPr>
          <p:spPr>
            <a:xfrm>
              <a:off x="7848600" y="1593117"/>
              <a:ext cx="8686800" cy="233118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685409-1922-8861-790D-7FD8F4A2ED53}"/>
                </a:ext>
              </a:extLst>
            </p:cNvPr>
            <p:cNvSpPr txBox="1"/>
            <p:nvPr/>
          </p:nvSpPr>
          <p:spPr>
            <a:xfrm>
              <a:off x="8168148" y="1593117"/>
              <a:ext cx="8001000" cy="30777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at a normal doctor’s chamber or hospital , in a chaotic day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Receptionist usually manage all the patients and their matters manually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Which leads to: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E419814-2336-264C-6AC4-E99F2E218AEF}"/>
              </a:ext>
            </a:extLst>
          </p:cNvPr>
          <p:cNvSpPr/>
          <p:nvPr/>
        </p:nvSpPr>
        <p:spPr>
          <a:xfrm rot="5400000">
            <a:off x="8534400" y="4935856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EAC2EF-F181-2765-268E-97C118DE2F64}"/>
              </a:ext>
            </a:extLst>
          </p:cNvPr>
          <p:cNvSpPr/>
          <p:nvPr/>
        </p:nvSpPr>
        <p:spPr>
          <a:xfrm>
            <a:off x="7977648" y="3723046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Unable to document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EFEC9-B7B2-8C20-0BE1-63D9C8A57353}"/>
              </a:ext>
            </a:extLst>
          </p:cNvPr>
          <p:cNvSpPr/>
          <p:nvPr/>
        </p:nvSpPr>
        <p:spPr>
          <a:xfrm>
            <a:off x="7977647" y="5490089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Mentally laborious job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3CC436-FA00-21CD-9A3F-137BD0DE7FFF}"/>
              </a:ext>
            </a:extLst>
          </p:cNvPr>
          <p:cNvSpPr/>
          <p:nvPr/>
        </p:nvSpPr>
        <p:spPr>
          <a:xfrm>
            <a:off x="12193845" y="3209164"/>
            <a:ext cx="3784803" cy="175158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Emergency system mismanagement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7E961B-59E1-D3B5-4FD7-69E5474C8E6A}"/>
              </a:ext>
            </a:extLst>
          </p:cNvPr>
          <p:cNvSpPr/>
          <p:nvPr/>
        </p:nvSpPr>
        <p:spPr>
          <a:xfrm>
            <a:off x="12388952" y="5434481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Untraceable  information</a:t>
            </a:r>
          </a:p>
        </p:txBody>
      </p:sp>
    </p:spTree>
    <p:extLst>
      <p:ext uri="{BB962C8B-B14F-4D97-AF65-F5344CB8AC3E}">
        <p14:creationId xmlns:p14="http://schemas.microsoft.com/office/powerpoint/2010/main" val="2711984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0FC3B-C3FD-0104-9F73-757E839684FE}"/>
              </a:ext>
            </a:extLst>
          </p:cNvPr>
          <p:cNvSpPr/>
          <p:nvPr/>
        </p:nvSpPr>
        <p:spPr>
          <a:xfrm>
            <a:off x="-14748" y="8937647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and a cross on a table&#10;&#10;Description automatically generated with medium confidence">
            <a:extLst>
              <a:ext uri="{FF2B5EF4-FFF2-40B4-BE49-F238E27FC236}">
                <a16:creationId xmlns:a16="http://schemas.microsoft.com/office/drawing/2014/main" id="{AD90E33D-A5D7-2D26-F4E6-040A7282B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02256"/>
            <a:ext cx="6172200" cy="6172200"/>
          </a:xfrm>
          <a:prstGeom prst="rect">
            <a:avLst/>
          </a:prstGeom>
        </p:spPr>
      </p:pic>
      <p:pic>
        <p:nvPicPr>
          <p:cNvPr id="7" name="Picture 6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9A2621B-B65C-1421-76E1-3F5768F997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743200" y="3086100"/>
            <a:ext cx="762000" cy="685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386268D-754A-E62F-0220-13DDB69DC98E}"/>
              </a:ext>
            </a:extLst>
          </p:cNvPr>
          <p:cNvGrpSpPr/>
          <p:nvPr/>
        </p:nvGrpSpPr>
        <p:grpSpPr>
          <a:xfrm>
            <a:off x="7658100" y="501935"/>
            <a:ext cx="8686800" cy="3077766"/>
            <a:chOff x="7848600" y="1593117"/>
            <a:chExt cx="8686800" cy="307776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832E4E6-C0D8-57E6-61C3-AC8159E25AB5}"/>
                </a:ext>
              </a:extLst>
            </p:cNvPr>
            <p:cNvSpPr/>
            <p:nvPr/>
          </p:nvSpPr>
          <p:spPr>
            <a:xfrm>
              <a:off x="7848600" y="1593117"/>
              <a:ext cx="8686800" cy="233118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685409-1922-8861-790D-7FD8F4A2ED53}"/>
                </a:ext>
              </a:extLst>
            </p:cNvPr>
            <p:cNvSpPr txBox="1"/>
            <p:nvPr/>
          </p:nvSpPr>
          <p:spPr>
            <a:xfrm>
              <a:off x="8168148" y="1593117"/>
              <a:ext cx="8001000" cy="30777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at a normal doctor’s chamber or hospital , in a chaotic day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Receptionist usually manage all the patients and their matters manually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Which leads to: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E419814-2336-264C-6AC4-E99F2E218AEF}"/>
              </a:ext>
            </a:extLst>
          </p:cNvPr>
          <p:cNvSpPr/>
          <p:nvPr/>
        </p:nvSpPr>
        <p:spPr>
          <a:xfrm rot="5400000">
            <a:off x="8534400" y="4935856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EAC2EF-F181-2765-268E-97C118DE2F64}"/>
              </a:ext>
            </a:extLst>
          </p:cNvPr>
          <p:cNvSpPr/>
          <p:nvPr/>
        </p:nvSpPr>
        <p:spPr>
          <a:xfrm>
            <a:off x="7977648" y="3723046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Unable to document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EFEC9-B7B2-8C20-0BE1-63D9C8A57353}"/>
              </a:ext>
            </a:extLst>
          </p:cNvPr>
          <p:cNvSpPr/>
          <p:nvPr/>
        </p:nvSpPr>
        <p:spPr>
          <a:xfrm>
            <a:off x="7977647" y="5490089"/>
            <a:ext cx="3454197" cy="163461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Mentally laborious job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3CC436-FA00-21CD-9A3F-137BD0DE7FFF}"/>
              </a:ext>
            </a:extLst>
          </p:cNvPr>
          <p:cNvSpPr/>
          <p:nvPr/>
        </p:nvSpPr>
        <p:spPr>
          <a:xfrm>
            <a:off x="12193845" y="3682898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Emergency system mismanagement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7E961B-59E1-D3B5-4FD7-69E5474C8E6A}"/>
              </a:ext>
            </a:extLst>
          </p:cNvPr>
          <p:cNvSpPr/>
          <p:nvPr/>
        </p:nvSpPr>
        <p:spPr>
          <a:xfrm>
            <a:off x="12388952" y="5434481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Untraceable  information</a:t>
            </a:r>
          </a:p>
        </p:txBody>
      </p:sp>
    </p:spTree>
    <p:extLst>
      <p:ext uri="{BB962C8B-B14F-4D97-AF65-F5344CB8AC3E}">
        <p14:creationId xmlns:p14="http://schemas.microsoft.com/office/powerpoint/2010/main" val="3349941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40FC3B-C3FD-0104-9F73-757E839684FE}"/>
              </a:ext>
            </a:extLst>
          </p:cNvPr>
          <p:cNvSpPr/>
          <p:nvPr/>
        </p:nvSpPr>
        <p:spPr>
          <a:xfrm>
            <a:off x="-14748" y="8937647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erson and a cross on a table&#10;&#10;Description automatically generated with medium confidence">
            <a:extLst>
              <a:ext uri="{FF2B5EF4-FFF2-40B4-BE49-F238E27FC236}">
                <a16:creationId xmlns:a16="http://schemas.microsoft.com/office/drawing/2014/main" id="{AD90E33D-A5D7-2D26-F4E6-040A7282B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802256"/>
            <a:ext cx="6172200" cy="6172200"/>
          </a:xfrm>
          <a:prstGeom prst="rect">
            <a:avLst/>
          </a:prstGeom>
        </p:spPr>
      </p:pic>
      <p:pic>
        <p:nvPicPr>
          <p:cNvPr id="7" name="Picture 6" descr="A blue circle with black background&#10;&#10;Description automatically generated">
            <a:extLst>
              <a:ext uri="{FF2B5EF4-FFF2-40B4-BE49-F238E27FC236}">
                <a16:creationId xmlns:a16="http://schemas.microsoft.com/office/drawing/2014/main" id="{39A2621B-B65C-1421-76E1-3F5768F997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2743200" y="3086100"/>
            <a:ext cx="762000" cy="6858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386268D-754A-E62F-0220-13DDB69DC98E}"/>
              </a:ext>
            </a:extLst>
          </p:cNvPr>
          <p:cNvGrpSpPr/>
          <p:nvPr/>
        </p:nvGrpSpPr>
        <p:grpSpPr>
          <a:xfrm>
            <a:off x="7658100" y="501935"/>
            <a:ext cx="8686800" cy="3077766"/>
            <a:chOff x="7848600" y="1593117"/>
            <a:chExt cx="8686800" cy="307776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832E4E6-C0D8-57E6-61C3-AC8159E25AB5}"/>
                </a:ext>
              </a:extLst>
            </p:cNvPr>
            <p:cNvSpPr/>
            <p:nvPr/>
          </p:nvSpPr>
          <p:spPr>
            <a:xfrm>
              <a:off x="7848600" y="1593117"/>
              <a:ext cx="8686800" cy="233118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8685409-1922-8861-790D-7FD8F4A2ED53}"/>
                </a:ext>
              </a:extLst>
            </p:cNvPr>
            <p:cNvSpPr txBox="1"/>
            <p:nvPr/>
          </p:nvSpPr>
          <p:spPr>
            <a:xfrm>
              <a:off x="8168148" y="1593117"/>
              <a:ext cx="8001000" cy="30777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at a normal doctor’s chamber or hospital , in a chaotic day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Receptionist usually manage all the patients and their matters manually</a:t>
              </a:r>
            </a:p>
            <a:p>
              <a:r>
                <a:rPr lang="en-US" sz="2800" dirty="0">
                  <a:solidFill>
                    <a:schemeClr val="accent4">
                      <a:lumMod val="50000"/>
                    </a:schemeClr>
                  </a:solidFill>
                  <a:latin typeface="Elephant" panose="02020904090505020303" pitchFamily="18" charset="0"/>
                </a:rPr>
                <a:t>Which leads to:</a:t>
              </a:r>
            </a:p>
            <a:p>
              <a:endParaRPr lang="en-US" dirty="0"/>
            </a:p>
            <a:p>
              <a:endParaRPr lang="en-US" dirty="0"/>
            </a:p>
            <a:p>
              <a:endParaRPr lang="en-US" dirty="0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7E419814-2336-264C-6AC4-E99F2E218AEF}"/>
              </a:ext>
            </a:extLst>
          </p:cNvPr>
          <p:cNvSpPr/>
          <p:nvPr/>
        </p:nvSpPr>
        <p:spPr>
          <a:xfrm rot="5400000">
            <a:off x="8534400" y="4935856"/>
            <a:ext cx="18288000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CEAC2EF-F181-2765-268E-97C118DE2F64}"/>
              </a:ext>
            </a:extLst>
          </p:cNvPr>
          <p:cNvSpPr/>
          <p:nvPr/>
        </p:nvSpPr>
        <p:spPr>
          <a:xfrm>
            <a:off x="7977648" y="3723046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Unable to document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00EFEC9-B7B2-8C20-0BE1-63D9C8A57353}"/>
              </a:ext>
            </a:extLst>
          </p:cNvPr>
          <p:cNvSpPr/>
          <p:nvPr/>
        </p:nvSpPr>
        <p:spPr>
          <a:xfrm>
            <a:off x="7977647" y="5490089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Mentally laborious job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03CC436-FA00-21CD-9A3F-137BD0DE7FFF}"/>
              </a:ext>
            </a:extLst>
          </p:cNvPr>
          <p:cNvSpPr/>
          <p:nvPr/>
        </p:nvSpPr>
        <p:spPr>
          <a:xfrm>
            <a:off x="12193845" y="3682898"/>
            <a:ext cx="3454197" cy="1277849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Emergency system mismanagement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7E961B-59E1-D3B5-4FD7-69E5474C8E6A}"/>
              </a:ext>
            </a:extLst>
          </p:cNvPr>
          <p:cNvSpPr/>
          <p:nvPr/>
        </p:nvSpPr>
        <p:spPr>
          <a:xfrm>
            <a:off x="12388952" y="5434481"/>
            <a:ext cx="3589696" cy="1905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4">
                    <a:lumMod val="50000"/>
                  </a:schemeClr>
                </a:solidFill>
                <a:latin typeface="Elephant" panose="02020904090505020303" pitchFamily="18" charset="0"/>
              </a:rPr>
              <a:t>Untraceable  information</a:t>
            </a:r>
          </a:p>
        </p:txBody>
      </p:sp>
    </p:spTree>
    <p:extLst>
      <p:ext uri="{BB962C8B-B14F-4D97-AF65-F5344CB8AC3E}">
        <p14:creationId xmlns:p14="http://schemas.microsoft.com/office/powerpoint/2010/main" val="22782313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iamond 21">
            <a:extLst>
              <a:ext uri="{FF2B5EF4-FFF2-40B4-BE49-F238E27FC236}">
                <a16:creationId xmlns:a16="http://schemas.microsoft.com/office/drawing/2014/main" id="{FEC41C6A-294E-93E8-8E06-01FD12F77AA7}"/>
              </a:ext>
            </a:extLst>
          </p:cNvPr>
          <p:cNvSpPr/>
          <p:nvPr/>
        </p:nvSpPr>
        <p:spPr>
          <a:xfrm rot="175331">
            <a:off x="-803280" y="-945759"/>
            <a:ext cx="5583142" cy="4136466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Diamond 15">
            <a:extLst>
              <a:ext uri="{FF2B5EF4-FFF2-40B4-BE49-F238E27FC236}">
                <a16:creationId xmlns:a16="http://schemas.microsoft.com/office/drawing/2014/main" id="{6568F3BA-A9F3-643E-D461-A1452A6E2AD1}"/>
              </a:ext>
            </a:extLst>
          </p:cNvPr>
          <p:cNvSpPr/>
          <p:nvPr/>
        </p:nvSpPr>
        <p:spPr>
          <a:xfrm rot="175331">
            <a:off x="7541726" y="3723630"/>
            <a:ext cx="8935981" cy="7568494"/>
          </a:xfrm>
          <a:prstGeom prst="diamon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F074F-39B0-967E-16D2-8B9CF08D3D14}"/>
              </a:ext>
            </a:extLst>
          </p:cNvPr>
          <p:cNvSpPr/>
          <p:nvPr/>
        </p:nvSpPr>
        <p:spPr>
          <a:xfrm>
            <a:off x="-381000" y="8915400"/>
            <a:ext cx="19735800" cy="13716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646B758-793A-5F68-2537-5A53033E4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188248">
            <a:off x="-3745269" y="3680853"/>
            <a:ext cx="4724400" cy="4724400"/>
          </a:xfrm>
          <a:prstGeom prst="rect">
            <a:avLst/>
          </a:prstGeom>
        </p:spPr>
      </p:pic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76A5982-697A-1396-01A0-992B644A9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532100">
            <a:off x="3004297" y="-3542304"/>
            <a:ext cx="4724400" cy="4724400"/>
          </a:xfrm>
          <a:prstGeom prst="rect">
            <a:avLst/>
          </a:prstGeom>
        </p:spPr>
      </p:pic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F777BC-F20A-55E2-9376-E855EA075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899461">
            <a:off x="-2449558" y="-3035779"/>
            <a:ext cx="4209852" cy="4209852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6F82A83-61A1-29CA-0C1C-DB66CA5E3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435">
            <a:off x="17321115" y="3485548"/>
            <a:ext cx="4724400" cy="4724400"/>
          </a:xfrm>
          <a:prstGeom prst="rect">
            <a:avLst/>
          </a:prstGeom>
        </p:spPr>
      </p:pic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B1FFB7-65FC-F1DB-EDB5-21A3696DF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5774" y="-5219700"/>
            <a:ext cx="4724400" cy="4724400"/>
          </a:xfrm>
          <a:prstGeom prst="rect">
            <a:avLst/>
          </a:prstGeom>
        </p:spPr>
      </p:pic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6BA4550-134E-D6BB-B7E3-6C7EDC498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33682">
            <a:off x="9571747" y="-3682936"/>
            <a:ext cx="4724400" cy="4724400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237B1F9-BD43-231D-7BC7-757C0C678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462753">
            <a:off x="16668699" y="-3345008"/>
            <a:ext cx="4724400" cy="472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5BC48B-7DDD-C502-242E-DD4D95310130}"/>
              </a:ext>
            </a:extLst>
          </p:cNvPr>
          <p:cNvSpPr txBox="1"/>
          <p:nvPr/>
        </p:nvSpPr>
        <p:spPr>
          <a:xfrm>
            <a:off x="8991600" y="7076737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2060"/>
                </a:solidFill>
                <a:latin typeface="Elephant" panose="02020904090505020303" pitchFamily="18" charset="0"/>
              </a:rPr>
              <a:t>Backed up by DATA STRUCTURE 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DDE9B0A-80B5-C534-DA05-18E4771888A5}"/>
              </a:ext>
            </a:extLst>
          </p:cNvPr>
          <p:cNvGrpSpPr/>
          <p:nvPr/>
        </p:nvGrpSpPr>
        <p:grpSpPr>
          <a:xfrm>
            <a:off x="1455935" y="3704607"/>
            <a:ext cx="10959678" cy="2817767"/>
            <a:chOff x="2756322" y="3975185"/>
            <a:chExt cx="10959678" cy="281776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35513AB-A76C-97ED-FD31-9FC4E1FE0787}"/>
                </a:ext>
              </a:extLst>
            </p:cNvPr>
            <p:cNvSpPr txBox="1"/>
            <p:nvPr/>
          </p:nvSpPr>
          <p:spPr>
            <a:xfrm>
              <a:off x="3124200" y="4147709"/>
              <a:ext cx="10591800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tx2">
                      <a:lumMod val="50000"/>
                    </a:schemeClr>
                  </a:solidFill>
                  <a:latin typeface="Elephant" panose="02020904090505020303" pitchFamily="18" charset="0"/>
                </a:rPr>
                <a:t>Serial management </a:t>
              </a:r>
            </a:p>
            <a:p>
              <a:endParaRPr lang="en-US" sz="3200" dirty="0">
                <a:solidFill>
                  <a:schemeClr val="tx2">
                    <a:lumMod val="50000"/>
                  </a:schemeClr>
                </a:solidFill>
                <a:latin typeface="Elephant" panose="02020904090505020303" pitchFamily="18" charset="0"/>
              </a:endParaRPr>
            </a:p>
            <a:p>
              <a:r>
                <a:rPr lang="en-US" sz="3200" dirty="0">
                  <a:solidFill>
                    <a:schemeClr val="tx2">
                      <a:lumMod val="50000"/>
                    </a:schemeClr>
                  </a:solidFill>
                  <a:latin typeface="Elephant" panose="02020904090505020303" pitchFamily="18" charset="0"/>
                </a:rPr>
                <a:t>Creating database</a:t>
              </a:r>
            </a:p>
            <a:p>
              <a:endParaRPr lang="en-US" sz="3200" dirty="0">
                <a:solidFill>
                  <a:schemeClr val="tx2">
                    <a:lumMod val="50000"/>
                  </a:schemeClr>
                </a:solidFill>
                <a:latin typeface="Elephant" panose="02020904090505020303" pitchFamily="18" charset="0"/>
              </a:endParaRPr>
            </a:p>
            <a:p>
              <a:r>
                <a:rPr lang="en-US" sz="3200" dirty="0">
                  <a:solidFill>
                    <a:schemeClr val="tx2">
                      <a:lumMod val="50000"/>
                    </a:schemeClr>
                  </a:solidFill>
                  <a:latin typeface="Elephant" panose="02020904090505020303" pitchFamily="18" charset="0"/>
                </a:rPr>
                <a:t>Searching and sorting patients information  </a:t>
              </a:r>
            </a:p>
          </p:txBody>
        </p:sp>
        <p:sp>
          <p:nvSpPr>
            <p:cNvPr id="3" name="Frame 2">
              <a:extLst>
                <a:ext uri="{FF2B5EF4-FFF2-40B4-BE49-F238E27FC236}">
                  <a16:creationId xmlns:a16="http://schemas.microsoft.com/office/drawing/2014/main" id="{4AD89A03-FE69-1B59-C29A-4E5C333FAFD2}"/>
                </a:ext>
              </a:extLst>
            </p:cNvPr>
            <p:cNvSpPr/>
            <p:nvPr/>
          </p:nvSpPr>
          <p:spPr>
            <a:xfrm>
              <a:off x="2756322" y="4917081"/>
              <a:ext cx="5220350" cy="882375"/>
            </a:xfrm>
            <a:prstGeom prst="fram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ame 12">
              <a:extLst>
                <a:ext uri="{FF2B5EF4-FFF2-40B4-BE49-F238E27FC236}">
                  <a16:creationId xmlns:a16="http://schemas.microsoft.com/office/drawing/2014/main" id="{E2EAA531-9FF7-CDF5-EBE8-4B25F1EE84DB}"/>
                </a:ext>
              </a:extLst>
            </p:cNvPr>
            <p:cNvSpPr/>
            <p:nvPr/>
          </p:nvSpPr>
          <p:spPr>
            <a:xfrm>
              <a:off x="2756322" y="3975185"/>
              <a:ext cx="4787478" cy="778269"/>
            </a:xfrm>
            <a:prstGeom prst="fram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Frame 13">
              <a:extLst>
                <a:ext uri="{FF2B5EF4-FFF2-40B4-BE49-F238E27FC236}">
                  <a16:creationId xmlns:a16="http://schemas.microsoft.com/office/drawing/2014/main" id="{D2984EEA-4E9E-F4C7-91B7-48B1BB84A8A5}"/>
                </a:ext>
              </a:extLst>
            </p:cNvPr>
            <p:cNvSpPr/>
            <p:nvPr/>
          </p:nvSpPr>
          <p:spPr>
            <a:xfrm>
              <a:off x="2808713" y="5989260"/>
              <a:ext cx="9436122" cy="803692"/>
            </a:xfrm>
            <a:prstGeom prst="fram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35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6111E-6 0 L 0.18394 0.1597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193" y="79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9444E-6 2.09877E-6 L 0.09401 0.25987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96" y="12994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466 0.00031 L 0.0803 0.31728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" y="1584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63889E-6 -4.93827E-6 L -0.00018 0.30325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" y="15154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69136E-6 L -0.13646 0.26512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823" y="1325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1.48148E-6 L -0.16719 0.13333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59" y="6667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B95DF6B9-5905-58AB-F7B0-B757BA361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63295" y="-1736773"/>
            <a:ext cx="24002993" cy="1337823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AB939B2-5FA6-2019-0475-503CAAD7BB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447800" y="-190500"/>
            <a:ext cx="24003000" cy="1041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2E34D5A-D4CF-404E-06EA-BD53FEA2CE49}"/>
              </a:ext>
            </a:extLst>
          </p:cNvPr>
          <p:cNvSpPr/>
          <p:nvPr/>
        </p:nvSpPr>
        <p:spPr>
          <a:xfrm>
            <a:off x="5334000" y="5295900"/>
            <a:ext cx="9296400" cy="4419600"/>
          </a:xfrm>
          <a:prstGeom prst="roundRect">
            <a:avLst/>
          </a:prstGeom>
          <a:solidFill>
            <a:schemeClr val="bg1">
              <a:alpha val="7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4FDDF9-0109-C4C0-193E-00986CCC4525}"/>
              </a:ext>
            </a:extLst>
          </p:cNvPr>
          <p:cNvSpPr/>
          <p:nvPr/>
        </p:nvSpPr>
        <p:spPr>
          <a:xfrm>
            <a:off x="4648200" y="4380846"/>
            <a:ext cx="10363200" cy="1143000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Magnifying glass with solid fill">
            <a:extLst>
              <a:ext uri="{FF2B5EF4-FFF2-40B4-BE49-F238E27FC236}">
                <a16:creationId xmlns:a16="http://schemas.microsoft.com/office/drawing/2014/main" id="{C36EAEE8-D1F7-93F4-D8AE-67FCB4F9C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4400" y="4609446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CDD1D3-9781-5186-85AD-8DA719771B1F}"/>
              </a:ext>
            </a:extLst>
          </p:cNvPr>
          <p:cNvSpPr txBox="1"/>
          <p:nvPr/>
        </p:nvSpPr>
        <p:spPr>
          <a:xfrm>
            <a:off x="6137564" y="4553374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Elephant" panose="02020904090505020303" pitchFamily="18" charset="0"/>
              </a:rPr>
              <a:t>Data 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F9FDE1-D8CF-D82C-06D9-13DFB4D2B500}"/>
              </a:ext>
            </a:extLst>
          </p:cNvPr>
          <p:cNvSpPr txBox="1"/>
          <p:nvPr/>
        </p:nvSpPr>
        <p:spPr>
          <a:xfrm>
            <a:off x="5791200" y="5810349"/>
            <a:ext cx="86452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Elephant" panose="02020904090505020303" pitchFamily="18" charset="0"/>
              </a:rPr>
              <a:t>Linked list: </a:t>
            </a:r>
            <a:r>
              <a:rPr lang="en-US" sz="3200" b="1" dirty="0">
                <a:latin typeface="+mj-lt"/>
              </a:rPr>
              <a:t>A linear data structure that stores a collection of data elements dynamically.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Elephant" panose="02020904090505020303" pitchFamily="18" charset="0"/>
              </a:rPr>
              <a:t>Queue:</a:t>
            </a:r>
            <a:r>
              <a:rPr lang="en-US" sz="3200" dirty="0"/>
              <a:t> </a:t>
            </a:r>
            <a:r>
              <a:rPr lang="en-US" sz="3200" b="1" dirty="0"/>
              <a:t>a linear data structure that is open at both ends and the operations are done in (FIFO) order</a:t>
            </a:r>
          </a:p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Elephant" panose="02020904090505020303" pitchFamily="18" charset="0"/>
              </a:rPr>
              <a:t>Sorting: </a:t>
            </a:r>
            <a:r>
              <a:rPr lang="en-US" sz="3200" b="1" dirty="0"/>
              <a:t>a sorting technique that swaps the smallest element with the current index</a:t>
            </a:r>
          </a:p>
        </p:txBody>
      </p:sp>
    </p:spTree>
    <p:extLst>
      <p:ext uri="{BB962C8B-B14F-4D97-AF65-F5344CB8AC3E}">
        <p14:creationId xmlns:p14="http://schemas.microsoft.com/office/powerpoint/2010/main" val="343172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5419DB-0987-857E-D06F-9C9B9420F7FC}"/>
              </a:ext>
            </a:extLst>
          </p:cNvPr>
          <p:cNvGrpSpPr/>
          <p:nvPr/>
        </p:nvGrpSpPr>
        <p:grpSpPr>
          <a:xfrm>
            <a:off x="-12295" y="-78879"/>
            <a:ext cx="18312585" cy="7818347"/>
            <a:chOff x="-12295" y="-78879"/>
            <a:chExt cx="18312585" cy="7818347"/>
          </a:xfrm>
        </p:grpSpPr>
        <p:grpSp>
          <p:nvGrpSpPr>
            <p:cNvPr id="2" name="Group 2"/>
            <p:cNvGrpSpPr/>
            <p:nvPr/>
          </p:nvGrpSpPr>
          <p:grpSpPr>
            <a:xfrm>
              <a:off x="-12295" y="-78879"/>
              <a:ext cx="18312585" cy="7818347"/>
              <a:chOff x="-1" y="-38100"/>
              <a:chExt cx="4823068" cy="2059153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-1" y="-19050"/>
                <a:ext cx="4823068" cy="2040103"/>
              </a:xfrm>
              <a:custGeom>
                <a:avLst/>
                <a:gdLst/>
                <a:ahLst/>
                <a:cxnLst/>
                <a:rect l="l" t="t" r="r" b="b"/>
                <a:pathLst>
                  <a:path w="4816592" h="2021053">
                    <a:moveTo>
                      <a:pt x="0" y="0"/>
                    </a:moveTo>
                    <a:lnTo>
                      <a:pt x="4816592" y="0"/>
                    </a:lnTo>
                    <a:lnTo>
                      <a:pt x="4816592" y="2021053"/>
                    </a:lnTo>
                    <a:lnTo>
                      <a:pt x="0" y="2021053"/>
                    </a:lnTo>
                    <a:close/>
                  </a:path>
                </a:pathLst>
              </a:custGeom>
              <a:solidFill>
                <a:srgbClr val="B3DD7E"/>
              </a:solidFill>
            </p:spPr>
            <p:txBody>
              <a:bodyPr/>
              <a:lstStyle/>
              <a:p>
                <a:r>
                  <a:rPr lang="en-US" dirty="0"/>
                  <a:t>`</a:t>
                </a: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0" y="-38100"/>
                <a:ext cx="4816593" cy="20591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9E50F24-98EC-2E82-4966-1F036EF50C10}"/>
                </a:ext>
              </a:extLst>
            </p:cNvPr>
            <p:cNvSpPr/>
            <p:nvPr/>
          </p:nvSpPr>
          <p:spPr>
            <a:xfrm>
              <a:off x="2781299" y="1494762"/>
              <a:ext cx="25908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accent3">
                      <a:lumMod val="50000"/>
                    </a:schemeClr>
                  </a:solidFill>
                  <a:latin typeface="Arial Black" panose="020B0A04020102020204" pitchFamily="34" charset="0"/>
                </a:rPr>
                <a:t>Patient 1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990A96C9-2400-92E8-0562-147E89848FDD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1536886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5137FD2-48A2-03F5-E07D-5E68BC3368C2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2298989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6B70A78-4D4A-80D0-35BC-B8F60DB138CB}"/>
                </a:ext>
              </a:extLst>
            </p:cNvPr>
            <p:cNvSpPr txBox="1"/>
            <p:nvPr/>
          </p:nvSpPr>
          <p:spPr>
            <a:xfrm>
              <a:off x="7551421" y="1310096"/>
              <a:ext cx="2590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FRONT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62282E6-C6AD-5B99-99C0-03E83097EBB0}"/>
                </a:ext>
              </a:extLst>
            </p:cNvPr>
            <p:cNvSpPr txBox="1"/>
            <p:nvPr/>
          </p:nvSpPr>
          <p:spPr>
            <a:xfrm>
              <a:off x="7696200" y="2145545"/>
              <a:ext cx="2590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REAR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51132DD-1A9D-2BB1-0C3C-D449103FB56B}"/>
              </a:ext>
            </a:extLst>
          </p:cNvPr>
          <p:cNvSpPr/>
          <p:nvPr/>
        </p:nvSpPr>
        <p:spPr>
          <a:xfrm rot="1575479">
            <a:off x="13668570" y="-937070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BB650-2FBF-88D6-27AF-884B79CF49A7}"/>
              </a:ext>
            </a:extLst>
          </p:cNvPr>
          <p:cNvSpPr/>
          <p:nvPr/>
        </p:nvSpPr>
        <p:spPr>
          <a:xfrm rot="1575479">
            <a:off x="15896504" y="91213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04A34957-B889-D4D8-3AED-C83D1EA6E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410830" y="1638298"/>
            <a:ext cx="4953000" cy="495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95" y="-105111"/>
            <a:ext cx="18312585" cy="7818347"/>
            <a:chOff x="-1" y="-38100"/>
            <a:chExt cx="4823068" cy="2059153"/>
          </a:xfrm>
        </p:grpSpPr>
        <p:sp>
          <p:nvSpPr>
            <p:cNvPr id="3" name="Freeform 3"/>
            <p:cNvSpPr/>
            <p:nvPr/>
          </p:nvSpPr>
          <p:spPr>
            <a:xfrm>
              <a:off x="-1" y="-19050"/>
              <a:ext cx="4823068" cy="2040103"/>
            </a:xfrm>
            <a:custGeom>
              <a:avLst/>
              <a:gdLst/>
              <a:ahLst/>
              <a:cxnLst/>
              <a:rect l="l" t="t" r="r" b="b"/>
              <a:pathLst>
                <a:path w="4816592" h="2021053">
                  <a:moveTo>
                    <a:pt x="0" y="0"/>
                  </a:moveTo>
                  <a:lnTo>
                    <a:pt x="4816592" y="0"/>
                  </a:lnTo>
                  <a:lnTo>
                    <a:pt x="4816592" y="2021053"/>
                  </a:lnTo>
                  <a:lnTo>
                    <a:pt x="0" y="2021053"/>
                  </a:lnTo>
                  <a:close/>
                </a:path>
              </a:pathLst>
            </a:custGeom>
            <a:solidFill>
              <a:srgbClr val="B3DD7E"/>
            </a:solidFill>
          </p:spPr>
          <p:txBody>
            <a:bodyPr/>
            <a:lstStyle/>
            <a:p>
              <a:r>
                <a:rPr lang="en-US" dirty="0"/>
                <a:t>`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5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E50F24-98EC-2E82-4966-1F036EF50C10}"/>
              </a:ext>
            </a:extLst>
          </p:cNvPr>
          <p:cNvSpPr/>
          <p:nvPr/>
        </p:nvSpPr>
        <p:spPr>
          <a:xfrm>
            <a:off x="2743200" y="1444718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Patient 1</a:t>
            </a:r>
          </a:p>
          <a:p>
            <a:pPr algn="ctr"/>
            <a:endParaRPr lang="en-US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DEBA89-ECAB-FEA2-4367-2001A5ABC5CB}"/>
              </a:ext>
            </a:extLst>
          </p:cNvPr>
          <p:cNvCxnSpPr>
            <a:cxnSpLocks/>
          </p:cNvCxnSpPr>
          <p:nvPr/>
        </p:nvCxnSpPr>
        <p:spPr>
          <a:xfrm>
            <a:off x="5638800" y="1536886"/>
            <a:ext cx="16764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609FCB3-7DCE-2DAC-E098-2F910636F4C0}"/>
              </a:ext>
            </a:extLst>
          </p:cNvPr>
          <p:cNvGrpSpPr/>
          <p:nvPr/>
        </p:nvGrpSpPr>
        <p:grpSpPr>
          <a:xfrm>
            <a:off x="2743200" y="2374768"/>
            <a:ext cx="6146007" cy="1570113"/>
            <a:chOff x="2743200" y="2374768"/>
            <a:chExt cx="6146007" cy="157011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28F85C1-4665-AFCC-6705-DC5B92FBA0B2}"/>
                </a:ext>
              </a:extLst>
            </p:cNvPr>
            <p:cNvGrpSpPr/>
            <p:nvPr/>
          </p:nvGrpSpPr>
          <p:grpSpPr>
            <a:xfrm>
              <a:off x="2743200" y="2374768"/>
              <a:ext cx="2590800" cy="1151049"/>
              <a:chOff x="2743200" y="2374768"/>
              <a:chExt cx="2590800" cy="1151049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251CC45-4CED-DC12-B8E4-7CD476B1C2AA}"/>
                  </a:ext>
                </a:extLst>
              </p:cNvPr>
              <p:cNvSpPr/>
              <p:nvPr/>
            </p:nvSpPr>
            <p:spPr>
              <a:xfrm>
                <a:off x="2743200" y="2611417"/>
                <a:ext cx="25908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Patient 2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19" name="Arrow: Up 18">
                <a:extLst>
                  <a:ext uri="{FF2B5EF4-FFF2-40B4-BE49-F238E27FC236}">
                    <a16:creationId xmlns:a16="http://schemas.microsoft.com/office/drawing/2014/main" id="{0314B4BA-41E6-2814-331C-0D9FB87FD6B2}"/>
                  </a:ext>
                </a:extLst>
              </p:cNvPr>
              <p:cNvSpPr/>
              <p:nvPr/>
            </p:nvSpPr>
            <p:spPr>
              <a:xfrm>
                <a:off x="3886200" y="2374768"/>
                <a:ext cx="304800" cy="36933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F33D916-F03A-4185-A0A2-9E7343805A21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3525817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9222E50-3CBF-23D4-32F0-91AC50C96548}"/>
                </a:ext>
              </a:extLst>
            </p:cNvPr>
            <p:cNvSpPr txBox="1"/>
            <p:nvPr/>
          </p:nvSpPr>
          <p:spPr>
            <a:xfrm>
              <a:off x="7770020" y="3360106"/>
              <a:ext cx="111918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REAR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936D2F6-20A6-F914-BA21-A123D46800C4}"/>
              </a:ext>
            </a:extLst>
          </p:cNvPr>
          <p:cNvSpPr txBox="1"/>
          <p:nvPr/>
        </p:nvSpPr>
        <p:spPr>
          <a:xfrm>
            <a:off x="7551421" y="1310096"/>
            <a:ext cx="259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FRONT</a:t>
            </a:r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2C4732-3B44-2B07-7F2B-1438E20CF0A9}"/>
              </a:ext>
            </a:extLst>
          </p:cNvPr>
          <p:cNvSpPr/>
          <p:nvPr/>
        </p:nvSpPr>
        <p:spPr>
          <a:xfrm rot="1575479">
            <a:off x="13668570" y="-937070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E72285-E78E-108A-92A7-2F0FD41C8038}"/>
              </a:ext>
            </a:extLst>
          </p:cNvPr>
          <p:cNvSpPr/>
          <p:nvPr/>
        </p:nvSpPr>
        <p:spPr>
          <a:xfrm rot="1575479">
            <a:off x="15896504" y="91213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728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589" y="-82689"/>
            <a:ext cx="18312585" cy="7818347"/>
            <a:chOff x="-1" y="-38100"/>
            <a:chExt cx="4823068" cy="2059153"/>
          </a:xfrm>
        </p:grpSpPr>
        <p:sp>
          <p:nvSpPr>
            <p:cNvPr id="3" name="Freeform 3"/>
            <p:cNvSpPr/>
            <p:nvPr/>
          </p:nvSpPr>
          <p:spPr>
            <a:xfrm>
              <a:off x="-1" y="-19050"/>
              <a:ext cx="4823068" cy="2040103"/>
            </a:xfrm>
            <a:custGeom>
              <a:avLst/>
              <a:gdLst/>
              <a:ahLst/>
              <a:cxnLst/>
              <a:rect l="l" t="t" r="r" b="b"/>
              <a:pathLst>
                <a:path w="4816592" h="2021053">
                  <a:moveTo>
                    <a:pt x="0" y="0"/>
                  </a:moveTo>
                  <a:lnTo>
                    <a:pt x="4816592" y="0"/>
                  </a:lnTo>
                  <a:lnTo>
                    <a:pt x="4816592" y="2021053"/>
                  </a:lnTo>
                  <a:lnTo>
                    <a:pt x="0" y="2021053"/>
                  </a:lnTo>
                  <a:close/>
                </a:path>
              </a:pathLst>
            </a:custGeom>
            <a:solidFill>
              <a:srgbClr val="B3DD7E"/>
            </a:solidFill>
          </p:spPr>
          <p:txBody>
            <a:bodyPr/>
            <a:lstStyle/>
            <a:p>
              <a:r>
                <a:rPr lang="en-US" dirty="0"/>
                <a:t>`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5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E50F24-98EC-2E82-4966-1F036EF50C10}"/>
              </a:ext>
            </a:extLst>
          </p:cNvPr>
          <p:cNvSpPr/>
          <p:nvPr/>
        </p:nvSpPr>
        <p:spPr>
          <a:xfrm>
            <a:off x="2743200" y="1444718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Patient 1</a:t>
            </a:r>
          </a:p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CEDE4-B627-B10B-4171-0C05E9C0F2DD}"/>
              </a:ext>
            </a:extLst>
          </p:cNvPr>
          <p:cNvGrpSpPr/>
          <p:nvPr/>
        </p:nvGrpSpPr>
        <p:grpSpPr>
          <a:xfrm>
            <a:off x="2743200" y="2374768"/>
            <a:ext cx="2590800" cy="1151049"/>
            <a:chOff x="2743200" y="2374768"/>
            <a:chExt cx="2590800" cy="11510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31432B-1EEB-C9B1-3986-B46FACFB3A7D}"/>
                </a:ext>
              </a:extLst>
            </p:cNvPr>
            <p:cNvSpPr/>
            <p:nvPr/>
          </p:nvSpPr>
          <p:spPr>
            <a:xfrm>
              <a:off x="2743200" y="2611417"/>
              <a:ext cx="25908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accent3">
                      <a:lumMod val="50000"/>
                    </a:schemeClr>
                  </a:solidFill>
                  <a:latin typeface="Arial Black" panose="020B0A04020102020204" pitchFamily="34" charset="0"/>
                </a:rPr>
                <a:t>Patient 2</a:t>
              </a:r>
            </a:p>
            <a:p>
              <a:pPr algn="ctr"/>
              <a:endParaRPr lang="en-US" dirty="0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07C5BB3B-E398-2869-6706-28AD67783B0B}"/>
                </a:ext>
              </a:extLst>
            </p:cNvPr>
            <p:cNvSpPr/>
            <p:nvPr/>
          </p:nvSpPr>
          <p:spPr>
            <a:xfrm>
              <a:off x="3886200" y="2374768"/>
              <a:ext cx="304800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FB967F-D712-3D5B-B063-1B9A4ED97562}"/>
              </a:ext>
            </a:extLst>
          </p:cNvPr>
          <p:cNvCxnSpPr>
            <a:cxnSpLocks/>
          </p:cNvCxnSpPr>
          <p:nvPr/>
        </p:nvCxnSpPr>
        <p:spPr>
          <a:xfrm>
            <a:off x="5638800" y="1536886"/>
            <a:ext cx="16764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432882-4D64-145F-C7BF-EA0488F9E101}"/>
              </a:ext>
            </a:extLst>
          </p:cNvPr>
          <p:cNvSpPr txBox="1"/>
          <p:nvPr/>
        </p:nvSpPr>
        <p:spPr>
          <a:xfrm>
            <a:off x="7680962" y="1260052"/>
            <a:ext cx="1828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FRONT</a:t>
            </a:r>
          </a:p>
          <a:p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CBFB54-7E0A-2A11-B685-BBE654BB70BC}"/>
              </a:ext>
            </a:extLst>
          </p:cNvPr>
          <p:cNvGrpSpPr/>
          <p:nvPr/>
        </p:nvGrpSpPr>
        <p:grpSpPr>
          <a:xfrm>
            <a:off x="2743200" y="3539631"/>
            <a:ext cx="6781802" cy="1689132"/>
            <a:chOff x="2743200" y="3539631"/>
            <a:chExt cx="6781802" cy="168913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F21AE30-9061-53A4-4BE3-74852BE1FA2C}"/>
                </a:ext>
              </a:extLst>
            </p:cNvPr>
            <p:cNvGrpSpPr/>
            <p:nvPr/>
          </p:nvGrpSpPr>
          <p:grpSpPr>
            <a:xfrm>
              <a:off x="2743200" y="3539631"/>
              <a:ext cx="2590800" cy="1248970"/>
              <a:chOff x="2743200" y="3539631"/>
              <a:chExt cx="2590800" cy="124897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E33437-843B-C05D-A04B-4EDCCC228F19}"/>
                  </a:ext>
                </a:extLst>
              </p:cNvPr>
              <p:cNvSpPr/>
              <p:nvPr/>
            </p:nvSpPr>
            <p:spPr>
              <a:xfrm>
                <a:off x="2743200" y="3874201"/>
                <a:ext cx="25908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Patient 3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16" name="Arrow: Up 15">
                <a:extLst>
                  <a:ext uri="{FF2B5EF4-FFF2-40B4-BE49-F238E27FC236}">
                    <a16:creationId xmlns:a16="http://schemas.microsoft.com/office/drawing/2014/main" id="{CA7F675A-A0D2-2122-2CBE-293E3E6787AF}"/>
                  </a:ext>
                </a:extLst>
              </p:cNvPr>
              <p:cNvSpPr/>
              <p:nvPr/>
            </p:nvSpPr>
            <p:spPr>
              <a:xfrm>
                <a:off x="3886200" y="3539631"/>
                <a:ext cx="304800" cy="36933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A4D50F-BF7E-7CCA-9801-BF3E9BD46C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4782437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6A10AF-3188-1125-795E-4CDA0AB25EB4}"/>
                </a:ext>
              </a:extLst>
            </p:cNvPr>
            <p:cNvSpPr txBox="1"/>
            <p:nvPr/>
          </p:nvSpPr>
          <p:spPr>
            <a:xfrm>
              <a:off x="7696202" y="4643988"/>
              <a:ext cx="182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REAR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EB01E4B-A38A-C076-333E-B8C8C86D4A6C}"/>
              </a:ext>
            </a:extLst>
          </p:cNvPr>
          <p:cNvSpPr/>
          <p:nvPr/>
        </p:nvSpPr>
        <p:spPr>
          <a:xfrm rot="1575479">
            <a:off x="13668570" y="-937070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506F5C-E49F-9DE0-8DC5-E41D9FDF0CA4}"/>
              </a:ext>
            </a:extLst>
          </p:cNvPr>
          <p:cNvSpPr/>
          <p:nvPr/>
        </p:nvSpPr>
        <p:spPr>
          <a:xfrm rot="1575479">
            <a:off x="15896504" y="91213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902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295" y="-144661"/>
            <a:ext cx="18312585" cy="7818347"/>
            <a:chOff x="-1" y="-38100"/>
            <a:chExt cx="4823068" cy="2059153"/>
          </a:xfrm>
        </p:grpSpPr>
        <p:sp>
          <p:nvSpPr>
            <p:cNvPr id="3" name="Freeform 3"/>
            <p:cNvSpPr/>
            <p:nvPr/>
          </p:nvSpPr>
          <p:spPr>
            <a:xfrm>
              <a:off x="-1" y="-19050"/>
              <a:ext cx="4823068" cy="2040103"/>
            </a:xfrm>
            <a:custGeom>
              <a:avLst/>
              <a:gdLst/>
              <a:ahLst/>
              <a:cxnLst/>
              <a:rect l="l" t="t" r="r" b="b"/>
              <a:pathLst>
                <a:path w="4816592" h="2021053">
                  <a:moveTo>
                    <a:pt x="0" y="0"/>
                  </a:moveTo>
                  <a:lnTo>
                    <a:pt x="4816592" y="0"/>
                  </a:lnTo>
                  <a:lnTo>
                    <a:pt x="4816592" y="2021053"/>
                  </a:lnTo>
                  <a:lnTo>
                    <a:pt x="0" y="2021053"/>
                  </a:lnTo>
                  <a:close/>
                </a:path>
              </a:pathLst>
            </a:custGeom>
            <a:solidFill>
              <a:srgbClr val="B3DD7E"/>
            </a:solidFill>
          </p:spPr>
          <p:txBody>
            <a:bodyPr/>
            <a:lstStyle/>
            <a:p>
              <a:r>
                <a:rPr lang="en-US" dirty="0"/>
                <a:t>`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5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E50F24-98EC-2E82-4966-1F036EF50C10}"/>
              </a:ext>
            </a:extLst>
          </p:cNvPr>
          <p:cNvSpPr/>
          <p:nvPr/>
        </p:nvSpPr>
        <p:spPr>
          <a:xfrm>
            <a:off x="2743200" y="1444718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Patient 1</a:t>
            </a:r>
          </a:p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CEDE4-B627-B10B-4171-0C05E9C0F2DD}"/>
              </a:ext>
            </a:extLst>
          </p:cNvPr>
          <p:cNvGrpSpPr/>
          <p:nvPr/>
        </p:nvGrpSpPr>
        <p:grpSpPr>
          <a:xfrm>
            <a:off x="2743200" y="2374768"/>
            <a:ext cx="2590800" cy="1151049"/>
            <a:chOff x="2743200" y="2374768"/>
            <a:chExt cx="2590800" cy="11510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31432B-1EEB-C9B1-3986-B46FACFB3A7D}"/>
                </a:ext>
              </a:extLst>
            </p:cNvPr>
            <p:cNvSpPr/>
            <p:nvPr/>
          </p:nvSpPr>
          <p:spPr>
            <a:xfrm>
              <a:off x="2743200" y="2611417"/>
              <a:ext cx="25908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accent3">
                      <a:lumMod val="50000"/>
                    </a:schemeClr>
                  </a:solidFill>
                  <a:latin typeface="Arial Black" panose="020B0A04020102020204" pitchFamily="34" charset="0"/>
                </a:rPr>
                <a:t>Patient 2</a:t>
              </a:r>
            </a:p>
            <a:p>
              <a:pPr algn="ctr"/>
              <a:endParaRPr lang="en-US" dirty="0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07C5BB3B-E398-2869-6706-28AD67783B0B}"/>
                </a:ext>
              </a:extLst>
            </p:cNvPr>
            <p:cNvSpPr/>
            <p:nvPr/>
          </p:nvSpPr>
          <p:spPr>
            <a:xfrm>
              <a:off x="3886200" y="2374768"/>
              <a:ext cx="304800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FB967F-D712-3D5B-B063-1B9A4ED97562}"/>
              </a:ext>
            </a:extLst>
          </p:cNvPr>
          <p:cNvCxnSpPr>
            <a:cxnSpLocks/>
          </p:cNvCxnSpPr>
          <p:nvPr/>
        </p:nvCxnSpPr>
        <p:spPr>
          <a:xfrm>
            <a:off x="5638800" y="1536886"/>
            <a:ext cx="16764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CBFB54-7E0A-2A11-B685-BBE654BB70BC}"/>
              </a:ext>
            </a:extLst>
          </p:cNvPr>
          <p:cNvGrpSpPr/>
          <p:nvPr/>
        </p:nvGrpSpPr>
        <p:grpSpPr>
          <a:xfrm>
            <a:off x="2743200" y="3539631"/>
            <a:ext cx="6781802" cy="1689132"/>
            <a:chOff x="2743200" y="3539631"/>
            <a:chExt cx="6781802" cy="168913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F21AE30-9061-53A4-4BE3-74852BE1FA2C}"/>
                </a:ext>
              </a:extLst>
            </p:cNvPr>
            <p:cNvGrpSpPr/>
            <p:nvPr/>
          </p:nvGrpSpPr>
          <p:grpSpPr>
            <a:xfrm>
              <a:off x="2743200" y="3539631"/>
              <a:ext cx="2590800" cy="1248970"/>
              <a:chOff x="2743200" y="3539631"/>
              <a:chExt cx="2590800" cy="124897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E33437-843B-C05D-A04B-4EDCCC228F19}"/>
                  </a:ext>
                </a:extLst>
              </p:cNvPr>
              <p:cNvSpPr/>
              <p:nvPr/>
            </p:nvSpPr>
            <p:spPr>
              <a:xfrm>
                <a:off x="2743200" y="3874201"/>
                <a:ext cx="25908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Patient 3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16" name="Arrow: Up 15">
                <a:extLst>
                  <a:ext uri="{FF2B5EF4-FFF2-40B4-BE49-F238E27FC236}">
                    <a16:creationId xmlns:a16="http://schemas.microsoft.com/office/drawing/2014/main" id="{CA7F675A-A0D2-2122-2CBE-293E3E6787AF}"/>
                  </a:ext>
                </a:extLst>
              </p:cNvPr>
              <p:cNvSpPr/>
              <p:nvPr/>
            </p:nvSpPr>
            <p:spPr>
              <a:xfrm>
                <a:off x="3886200" y="3539631"/>
                <a:ext cx="304800" cy="36933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A4D50F-BF7E-7CCA-9801-BF3E9BD46C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4782437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6A10AF-3188-1125-795E-4CDA0AB25EB4}"/>
                </a:ext>
              </a:extLst>
            </p:cNvPr>
            <p:cNvSpPr txBox="1"/>
            <p:nvPr/>
          </p:nvSpPr>
          <p:spPr>
            <a:xfrm>
              <a:off x="7696202" y="4643988"/>
              <a:ext cx="182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REAR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AFFB669A-8C30-62E3-3ADB-B6B16F978358}"/>
              </a:ext>
            </a:extLst>
          </p:cNvPr>
          <p:cNvSpPr txBox="1"/>
          <p:nvPr/>
        </p:nvSpPr>
        <p:spPr>
          <a:xfrm>
            <a:off x="7551421" y="1310096"/>
            <a:ext cx="259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FRONT</a:t>
            </a:r>
          </a:p>
          <a:p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96990D-7DC8-453E-BBCD-03FB8E9AADD7}"/>
              </a:ext>
            </a:extLst>
          </p:cNvPr>
          <p:cNvSpPr/>
          <p:nvPr/>
        </p:nvSpPr>
        <p:spPr>
          <a:xfrm>
            <a:off x="2895600" y="5867486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3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EMERGENCY CASE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A19B65-4737-EDE0-C29A-CA02387C7587}"/>
              </a:ext>
            </a:extLst>
          </p:cNvPr>
          <p:cNvSpPr/>
          <p:nvPr/>
        </p:nvSpPr>
        <p:spPr>
          <a:xfrm rot="1575479">
            <a:off x="13668570" y="-937070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DC6BA1-234D-A47D-6B92-E98B8614FFD3}"/>
              </a:ext>
            </a:extLst>
          </p:cNvPr>
          <p:cNvSpPr/>
          <p:nvPr/>
        </p:nvSpPr>
        <p:spPr>
          <a:xfrm rot="1575479">
            <a:off x="15896504" y="91213"/>
            <a:ext cx="630253" cy="13495114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76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589" y="-184877"/>
            <a:ext cx="18312585" cy="7818347"/>
            <a:chOff x="-1" y="-38100"/>
            <a:chExt cx="4823068" cy="2059153"/>
          </a:xfrm>
        </p:grpSpPr>
        <p:sp>
          <p:nvSpPr>
            <p:cNvPr id="3" name="Freeform 3"/>
            <p:cNvSpPr/>
            <p:nvPr/>
          </p:nvSpPr>
          <p:spPr>
            <a:xfrm>
              <a:off x="-1" y="-19050"/>
              <a:ext cx="4823068" cy="2040103"/>
            </a:xfrm>
            <a:custGeom>
              <a:avLst/>
              <a:gdLst/>
              <a:ahLst/>
              <a:cxnLst/>
              <a:rect l="l" t="t" r="r" b="b"/>
              <a:pathLst>
                <a:path w="4816592" h="2021053">
                  <a:moveTo>
                    <a:pt x="0" y="0"/>
                  </a:moveTo>
                  <a:lnTo>
                    <a:pt x="4816592" y="0"/>
                  </a:lnTo>
                  <a:lnTo>
                    <a:pt x="4816592" y="2021053"/>
                  </a:lnTo>
                  <a:lnTo>
                    <a:pt x="0" y="2021053"/>
                  </a:lnTo>
                  <a:close/>
                </a:path>
              </a:pathLst>
            </a:custGeom>
            <a:solidFill>
              <a:srgbClr val="F68B32"/>
            </a:solidFill>
          </p:spPr>
          <p:txBody>
            <a:bodyPr/>
            <a:lstStyle/>
            <a:p>
              <a:r>
                <a:rPr lang="en-US" dirty="0"/>
                <a:t>`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5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  <a:solidFill>
            <a:schemeClr val="accent6">
              <a:lumMod val="5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E50F24-98EC-2E82-4966-1F036EF50C10}"/>
              </a:ext>
            </a:extLst>
          </p:cNvPr>
          <p:cNvSpPr/>
          <p:nvPr/>
        </p:nvSpPr>
        <p:spPr>
          <a:xfrm>
            <a:off x="2743200" y="1444718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Patient 1</a:t>
            </a:r>
          </a:p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CEDE4-B627-B10B-4171-0C05E9C0F2DD}"/>
              </a:ext>
            </a:extLst>
          </p:cNvPr>
          <p:cNvGrpSpPr/>
          <p:nvPr/>
        </p:nvGrpSpPr>
        <p:grpSpPr>
          <a:xfrm>
            <a:off x="2743200" y="2374768"/>
            <a:ext cx="2590800" cy="1151049"/>
            <a:chOff x="2743200" y="2374768"/>
            <a:chExt cx="2590800" cy="11510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31432B-1EEB-C9B1-3986-B46FACFB3A7D}"/>
                </a:ext>
              </a:extLst>
            </p:cNvPr>
            <p:cNvSpPr/>
            <p:nvPr/>
          </p:nvSpPr>
          <p:spPr>
            <a:xfrm>
              <a:off x="2743200" y="2611417"/>
              <a:ext cx="25908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accent3">
                      <a:lumMod val="50000"/>
                    </a:schemeClr>
                  </a:solidFill>
                  <a:latin typeface="Arial Black" panose="020B0A04020102020204" pitchFamily="34" charset="0"/>
                </a:rPr>
                <a:t>Patient 2</a:t>
              </a:r>
            </a:p>
            <a:p>
              <a:pPr algn="ctr"/>
              <a:endParaRPr lang="en-US" dirty="0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07C5BB3B-E398-2869-6706-28AD67783B0B}"/>
                </a:ext>
              </a:extLst>
            </p:cNvPr>
            <p:cNvSpPr/>
            <p:nvPr/>
          </p:nvSpPr>
          <p:spPr>
            <a:xfrm>
              <a:off x="3886200" y="2374768"/>
              <a:ext cx="304800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FB967F-D712-3D5B-B063-1B9A4ED97562}"/>
              </a:ext>
            </a:extLst>
          </p:cNvPr>
          <p:cNvCxnSpPr>
            <a:cxnSpLocks/>
          </p:cNvCxnSpPr>
          <p:nvPr/>
        </p:nvCxnSpPr>
        <p:spPr>
          <a:xfrm>
            <a:off x="5638800" y="1536886"/>
            <a:ext cx="1676400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CBFB54-7E0A-2A11-B685-BBE654BB70BC}"/>
              </a:ext>
            </a:extLst>
          </p:cNvPr>
          <p:cNvGrpSpPr/>
          <p:nvPr/>
        </p:nvGrpSpPr>
        <p:grpSpPr>
          <a:xfrm>
            <a:off x="2743200" y="3539631"/>
            <a:ext cx="6781802" cy="1689132"/>
            <a:chOff x="2743200" y="3539631"/>
            <a:chExt cx="6781802" cy="168913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F21AE30-9061-53A4-4BE3-74852BE1FA2C}"/>
                </a:ext>
              </a:extLst>
            </p:cNvPr>
            <p:cNvGrpSpPr/>
            <p:nvPr/>
          </p:nvGrpSpPr>
          <p:grpSpPr>
            <a:xfrm>
              <a:off x="2743200" y="3539631"/>
              <a:ext cx="2590800" cy="1248970"/>
              <a:chOff x="2743200" y="3539631"/>
              <a:chExt cx="2590800" cy="124897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E33437-843B-C05D-A04B-4EDCCC228F19}"/>
                  </a:ext>
                </a:extLst>
              </p:cNvPr>
              <p:cNvSpPr/>
              <p:nvPr/>
            </p:nvSpPr>
            <p:spPr>
              <a:xfrm>
                <a:off x="2743200" y="3874201"/>
                <a:ext cx="25908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Patient 3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16" name="Arrow: Up 15">
                <a:extLst>
                  <a:ext uri="{FF2B5EF4-FFF2-40B4-BE49-F238E27FC236}">
                    <a16:creationId xmlns:a16="http://schemas.microsoft.com/office/drawing/2014/main" id="{CA7F675A-A0D2-2122-2CBE-293E3E6787AF}"/>
                  </a:ext>
                </a:extLst>
              </p:cNvPr>
              <p:cNvSpPr/>
              <p:nvPr/>
            </p:nvSpPr>
            <p:spPr>
              <a:xfrm>
                <a:off x="3886200" y="3539631"/>
                <a:ext cx="304800" cy="36933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A4D50F-BF7E-7CCA-9801-BF3E9BD46C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4782437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6A10AF-3188-1125-795E-4CDA0AB25EB4}"/>
                </a:ext>
              </a:extLst>
            </p:cNvPr>
            <p:cNvSpPr txBox="1"/>
            <p:nvPr/>
          </p:nvSpPr>
          <p:spPr>
            <a:xfrm>
              <a:off x="7696202" y="4643988"/>
              <a:ext cx="182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REAR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58D8072-B5F3-0646-7553-65C5148F970B}"/>
              </a:ext>
            </a:extLst>
          </p:cNvPr>
          <p:cNvSpPr/>
          <p:nvPr/>
        </p:nvSpPr>
        <p:spPr>
          <a:xfrm>
            <a:off x="2895600" y="5867486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3">
                  <a:lumMod val="50000"/>
                </a:schemeClr>
              </a:solidFill>
              <a:latin typeface="Arial Black" panose="020B0A04020102020204" pitchFamily="34" charset="0"/>
            </a:endParaRPr>
          </a:p>
          <a:p>
            <a:pPr algn="ctr"/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EMERGENCY CASE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F4E7F5-2242-F690-00E0-18E241A9F287}"/>
              </a:ext>
            </a:extLst>
          </p:cNvPr>
          <p:cNvSpPr txBox="1"/>
          <p:nvPr/>
        </p:nvSpPr>
        <p:spPr>
          <a:xfrm>
            <a:off x="7551421" y="1310096"/>
            <a:ext cx="2590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FRONT</a:t>
            </a:r>
          </a:p>
          <a:p>
            <a:endParaRPr lang="en-US" dirty="0"/>
          </a:p>
        </p:txBody>
      </p:sp>
      <p:sp>
        <p:nvSpPr>
          <p:cNvPr id="27" name="Freeform 8">
            <a:extLst>
              <a:ext uri="{FF2B5EF4-FFF2-40B4-BE49-F238E27FC236}">
                <a16:creationId xmlns:a16="http://schemas.microsoft.com/office/drawing/2014/main" id="{C4A0E188-9C48-2DA8-F668-D07E553D34A5}"/>
              </a:ext>
            </a:extLst>
          </p:cNvPr>
          <p:cNvSpPr/>
          <p:nvPr/>
        </p:nvSpPr>
        <p:spPr>
          <a:xfrm>
            <a:off x="11906869" y="2520960"/>
            <a:ext cx="6283542" cy="6283542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9804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287F31AA-FE11-19E4-F1BC-C43A788EE92E}"/>
              </a:ext>
            </a:extLst>
          </p:cNvPr>
          <p:cNvSpPr/>
          <p:nvPr/>
        </p:nvSpPr>
        <p:spPr>
          <a:xfrm>
            <a:off x="11269680" y="1901918"/>
            <a:ext cx="7693546" cy="7693546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9804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4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842 -4.81481E-6 L -0.14679 -0.14814 C -0.17856 -0.17916 -0.19627 -0.22546 -0.19627 -0.27407 C -0.19627 -0.32885 -0.17856 -0.37361 -0.14679 -0.40416 L -0.00842 -0.55169 " pathEditMode="relative" rAng="5400000" ptsTypes="AAA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92" y="-275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589" y="-184877"/>
            <a:ext cx="18312585" cy="7818347"/>
            <a:chOff x="-1" y="-38100"/>
            <a:chExt cx="4823068" cy="2059153"/>
          </a:xfrm>
          <a:solidFill>
            <a:srgbClr val="F68B32"/>
          </a:solidFill>
        </p:grpSpPr>
        <p:sp>
          <p:nvSpPr>
            <p:cNvPr id="3" name="Freeform 3"/>
            <p:cNvSpPr/>
            <p:nvPr/>
          </p:nvSpPr>
          <p:spPr>
            <a:xfrm>
              <a:off x="-1" y="-19050"/>
              <a:ext cx="4823068" cy="2040103"/>
            </a:xfrm>
            <a:custGeom>
              <a:avLst/>
              <a:gdLst/>
              <a:ahLst/>
              <a:cxnLst/>
              <a:rect l="l" t="t" r="r" b="b"/>
              <a:pathLst>
                <a:path w="4816592" h="2021053">
                  <a:moveTo>
                    <a:pt x="0" y="0"/>
                  </a:moveTo>
                  <a:lnTo>
                    <a:pt x="4816592" y="0"/>
                  </a:lnTo>
                  <a:lnTo>
                    <a:pt x="4816592" y="2021053"/>
                  </a:lnTo>
                  <a:lnTo>
                    <a:pt x="0" y="202105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r>
                <a:rPr lang="en-US" dirty="0"/>
                <a:t>`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591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  <a:solidFill>
            <a:schemeClr val="accent6">
              <a:lumMod val="50000"/>
            </a:schemeClr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E50F24-98EC-2E82-4966-1F036EF50C10}"/>
              </a:ext>
            </a:extLst>
          </p:cNvPr>
          <p:cNvSpPr/>
          <p:nvPr/>
        </p:nvSpPr>
        <p:spPr>
          <a:xfrm>
            <a:off x="2743200" y="1444718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Patient 1</a:t>
            </a:r>
          </a:p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AACEDE4-B627-B10B-4171-0C05E9C0F2DD}"/>
              </a:ext>
            </a:extLst>
          </p:cNvPr>
          <p:cNvGrpSpPr/>
          <p:nvPr/>
        </p:nvGrpSpPr>
        <p:grpSpPr>
          <a:xfrm>
            <a:off x="2743200" y="2374768"/>
            <a:ext cx="2590800" cy="1151049"/>
            <a:chOff x="2743200" y="2374768"/>
            <a:chExt cx="2590800" cy="11510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731432B-1EEB-C9B1-3986-B46FACFB3A7D}"/>
                </a:ext>
              </a:extLst>
            </p:cNvPr>
            <p:cNvSpPr/>
            <p:nvPr/>
          </p:nvSpPr>
          <p:spPr>
            <a:xfrm>
              <a:off x="2743200" y="2611417"/>
              <a:ext cx="25908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accent3">
                      <a:lumMod val="50000"/>
                    </a:schemeClr>
                  </a:solidFill>
                  <a:latin typeface="Arial Black" panose="020B0A04020102020204" pitchFamily="34" charset="0"/>
                </a:rPr>
                <a:t>Patient 2</a:t>
              </a:r>
            </a:p>
            <a:p>
              <a:pPr algn="ctr"/>
              <a:endParaRPr lang="en-US" dirty="0"/>
            </a:p>
          </p:txBody>
        </p:sp>
        <p:sp>
          <p:nvSpPr>
            <p:cNvPr id="13" name="Arrow: Up 12">
              <a:extLst>
                <a:ext uri="{FF2B5EF4-FFF2-40B4-BE49-F238E27FC236}">
                  <a16:creationId xmlns:a16="http://schemas.microsoft.com/office/drawing/2014/main" id="{07C5BB3B-E398-2869-6706-28AD67783B0B}"/>
                </a:ext>
              </a:extLst>
            </p:cNvPr>
            <p:cNvSpPr/>
            <p:nvPr/>
          </p:nvSpPr>
          <p:spPr>
            <a:xfrm>
              <a:off x="3886200" y="2374768"/>
              <a:ext cx="304800" cy="369332"/>
            </a:xfrm>
            <a:prstGeom prst="up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902CD2D-7CE7-2A1A-3186-A556009C1633}"/>
              </a:ext>
            </a:extLst>
          </p:cNvPr>
          <p:cNvGrpSpPr/>
          <p:nvPr/>
        </p:nvGrpSpPr>
        <p:grpSpPr>
          <a:xfrm>
            <a:off x="5638800" y="92629"/>
            <a:ext cx="3733802" cy="584775"/>
            <a:chOff x="5638800" y="92629"/>
            <a:chExt cx="3733802" cy="58477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CFB967F-D712-3D5B-B063-1B9A4ED97562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266700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C432882-4D64-145F-C7BF-EA0488F9E101}"/>
                </a:ext>
              </a:extLst>
            </p:cNvPr>
            <p:cNvSpPr txBox="1"/>
            <p:nvPr/>
          </p:nvSpPr>
          <p:spPr>
            <a:xfrm>
              <a:off x="7543802" y="92629"/>
              <a:ext cx="182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FRONT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CBFB54-7E0A-2A11-B685-BBE654BB70BC}"/>
              </a:ext>
            </a:extLst>
          </p:cNvPr>
          <p:cNvGrpSpPr/>
          <p:nvPr/>
        </p:nvGrpSpPr>
        <p:grpSpPr>
          <a:xfrm>
            <a:off x="2743200" y="3539631"/>
            <a:ext cx="6781802" cy="1689132"/>
            <a:chOff x="2743200" y="3539631"/>
            <a:chExt cx="6781802" cy="168913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F21AE30-9061-53A4-4BE3-74852BE1FA2C}"/>
                </a:ext>
              </a:extLst>
            </p:cNvPr>
            <p:cNvGrpSpPr/>
            <p:nvPr/>
          </p:nvGrpSpPr>
          <p:grpSpPr>
            <a:xfrm>
              <a:off x="2743200" y="3539631"/>
              <a:ext cx="2590800" cy="1248970"/>
              <a:chOff x="2743200" y="3539631"/>
              <a:chExt cx="2590800" cy="124897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5E33437-843B-C05D-A04B-4EDCCC228F19}"/>
                  </a:ext>
                </a:extLst>
              </p:cNvPr>
              <p:cNvSpPr/>
              <p:nvPr/>
            </p:nvSpPr>
            <p:spPr>
              <a:xfrm>
                <a:off x="2743200" y="3874201"/>
                <a:ext cx="25908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chemeClr val="accent3">
                        <a:lumMod val="50000"/>
                      </a:schemeClr>
                    </a:solidFill>
                    <a:latin typeface="Arial Black" panose="020B0A04020102020204" pitchFamily="34" charset="0"/>
                  </a:rPr>
                  <a:t>Patient 3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16" name="Arrow: Up 15">
                <a:extLst>
                  <a:ext uri="{FF2B5EF4-FFF2-40B4-BE49-F238E27FC236}">
                    <a16:creationId xmlns:a16="http://schemas.microsoft.com/office/drawing/2014/main" id="{CA7F675A-A0D2-2122-2CBE-293E3E6787AF}"/>
                  </a:ext>
                </a:extLst>
              </p:cNvPr>
              <p:cNvSpPr/>
              <p:nvPr/>
            </p:nvSpPr>
            <p:spPr>
              <a:xfrm>
                <a:off x="3886200" y="3539631"/>
                <a:ext cx="304800" cy="36933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FEA4D50F-BF7E-7CCA-9801-BF3E9BD46CB6}"/>
                </a:ext>
              </a:extLst>
            </p:cNvPr>
            <p:cNvCxnSpPr>
              <a:cxnSpLocks/>
            </p:cNvCxnSpPr>
            <p:nvPr/>
          </p:nvCxnSpPr>
          <p:spPr>
            <a:xfrm>
              <a:off x="5638800" y="4782437"/>
              <a:ext cx="1676400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46A10AF-3188-1125-795E-4CDA0AB25EB4}"/>
                </a:ext>
              </a:extLst>
            </p:cNvPr>
            <p:cNvSpPr txBox="1"/>
            <p:nvPr/>
          </p:nvSpPr>
          <p:spPr>
            <a:xfrm>
              <a:off x="7696202" y="4643988"/>
              <a:ext cx="1828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>
                  <a:solidFill>
                    <a:schemeClr val="tx2">
                      <a:lumMod val="50000"/>
                    </a:schemeClr>
                  </a:solidFill>
                </a:rPr>
                <a:t>REAR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58D8072-B5F3-0646-7553-65C5148F970B}"/>
              </a:ext>
            </a:extLst>
          </p:cNvPr>
          <p:cNvSpPr/>
          <p:nvPr/>
        </p:nvSpPr>
        <p:spPr>
          <a:xfrm>
            <a:off x="2743200" y="92629"/>
            <a:ext cx="2590800" cy="914400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EMERGENCY CASE</a:t>
            </a:r>
          </a:p>
        </p:txBody>
      </p:sp>
      <p:sp>
        <p:nvSpPr>
          <p:cNvPr id="26" name="Arrow: Up 25">
            <a:extLst>
              <a:ext uri="{FF2B5EF4-FFF2-40B4-BE49-F238E27FC236}">
                <a16:creationId xmlns:a16="http://schemas.microsoft.com/office/drawing/2014/main" id="{55B827D1-8262-8896-DA12-6B57E952B6CF}"/>
              </a:ext>
            </a:extLst>
          </p:cNvPr>
          <p:cNvSpPr/>
          <p:nvPr/>
        </p:nvSpPr>
        <p:spPr>
          <a:xfrm>
            <a:off x="3886200" y="1085860"/>
            <a:ext cx="304800" cy="36933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A64C185B-A382-76DB-9C76-CFF7E5BB4CD1}"/>
              </a:ext>
            </a:extLst>
          </p:cNvPr>
          <p:cNvSpPr/>
          <p:nvPr/>
        </p:nvSpPr>
        <p:spPr>
          <a:xfrm>
            <a:off x="11269680" y="1901918"/>
            <a:ext cx="7693546" cy="7693546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9804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8" name="Freeform 8">
            <a:extLst>
              <a:ext uri="{FF2B5EF4-FFF2-40B4-BE49-F238E27FC236}">
                <a16:creationId xmlns:a16="http://schemas.microsoft.com/office/drawing/2014/main" id="{96D6762E-27F8-9B26-9BDE-37CDB65C1857}"/>
              </a:ext>
            </a:extLst>
          </p:cNvPr>
          <p:cNvSpPr/>
          <p:nvPr/>
        </p:nvSpPr>
        <p:spPr>
          <a:xfrm>
            <a:off x="11906869" y="2520960"/>
            <a:ext cx="6283542" cy="6283542"/>
          </a:xfrm>
          <a:custGeom>
            <a:avLst/>
            <a:gdLst/>
            <a:ahLst/>
            <a:cxnLst/>
            <a:rect l="l" t="t" r="r" b="b"/>
            <a:pathLst>
              <a:path w="6350000" h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FFFFFF">
              <a:alpha val="9804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72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85185E-6 L 0.00208 0.1135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56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4589" y="-184877"/>
            <a:ext cx="18312585" cy="7818347"/>
            <a:chOff x="-1" y="-38100"/>
            <a:chExt cx="4823068" cy="2059153"/>
          </a:xfrm>
        </p:grpSpPr>
        <p:sp>
          <p:nvSpPr>
            <p:cNvPr id="3" name="Freeform 3"/>
            <p:cNvSpPr/>
            <p:nvPr/>
          </p:nvSpPr>
          <p:spPr>
            <a:xfrm>
              <a:off x="-1" y="-19050"/>
              <a:ext cx="4823068" cy="2040103"/>
            </a:xfrm>
            <a:custGeom>
              <a:avLst/>
              <a:gdLst/>
              <a:ahLst/>
              <a:cxnLst/>
              <a:rect l="l" t="t" r="r" b="b"/>
              <a:pathLst>
                <a:path w="4816592" h="2021053">
                  <a:moveTo>
                    <a:pt x="0" y="0"/>
                  </a:moveTo>
                  <a:lnTo>
                    <a:pt x="4816592" y="0"/>
                  </a:lnTo>
                  <a:lnTo>
                    <a:pt x="4816592" y="2021053"/>
                  </a:lnTo>
                  <a:lnTo>
                    <a:pt x="0" y="2021053"/>
                  </a:lnTo>
                  <a:close/>
                </a:path>
              </a:pathLst>
            </a:custGeom>
            <a:solidFill>
              <a:srgbClr val="B3DD7E"/>
            </a:solidFill>
          </p:spPr>
          <p:txBody>
            <a:bodyPr/>
            <a:lstStyle/>
            <a:p>
              <a:r>
                <a:rPr lang="en-US" dirty="0"/>
                <a:t>`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059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529632"/>
            <a:ext cx="18288000" cy="3086100"/>
            <a:chOff x="0" y="0"/>
            <a:chExt cx="481659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ED95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7673686"/>
            <a:ext cx="18288000" cy="314325"/>
            <a:chOff x="0" y="0"/>
            <a:chExt cx="4816593" cy="827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16592" cy="82785"/>
            </a:xfrm>
            <a:custGeom>
              <a:avLst/>
              <a:gdLst/>
              <a:ahLst/>
              <a:cxnLst/>
              <a:rect l="l" t="t" r="r" b="b"/>
              <a:pathLst>
                <a:path w="4816592" h="82785">
                  <a:moveTo>
                    <a:pt x="0" y="0"/>
                  </a:moveTo>
                  <a:lnTo>
                    <a:pt x="4816592" y="0"/>
                  </a:lnTo>
                  <a:lnTo>
                    <a:pt x="4816592" y="82785"/>
                  </a:lnTo>
                  <a:lnTo>
                    <a:pt x="0" y="82785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816593" cy="1208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5" name="Picture 14" descr="A stethoscope on a black background&#10;&#10;Description automatically generated">
            <a:extLst>
              <a:ext uri="{FF2B5EF4-FFF2-40B4-BE49-F238E27FC236}">
                <a16:creationId xmlns:a16="http://schemas.microsoft.com/office/drawing/2014/main" id="{AC619924-CA59-87BB-B3D2-779CB9F1A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8587">
            <a:off x="13258430" y="1485898"/>
            <a:ext cx="4953000" cy="49530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61B0C6D-4BE4-B780-5834-8EB49CA793DC}"/>
              </a:ext>
            </a:extLst>
          </p:cNvPr>
          <p:cNvSpPr txBox="1"/>
          <p:nvPr/>
        </p:nvSpPr>
        <p:spPr>
          <a:xfrm>
            <a:off x="4572000" y="475101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22C8E9-787E-92E9-22D1-5DB84A94A360}"/>
              </a:ext>
            </a:extLst>
          </p:cNvPr>
          <p:cNvSpPr txBox="1"/>
          <p:nvPr/>
        </p:nvSpPr>
        <p:spPr>
          <a:xfrm>
            <a:off x="6571397" y="0"/>
            <a:ext cx="419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Pseudo Code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CC7843-A4DC-846A-05F0-AAE3CE15FE2A}"/>
              </a:ext>
            </a:extLst>
          </p:cNvPr>
          <p:cNvSpPr txBox="1"/>
          <p:nvPr/>
        </p:nvSpPr>
        <p:spPr>
          <a:xfrm>
            <a:off x="152400" y="1562100"/>
            <a:ext cx="13335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/>
              <a:t>function enqueue(name1, age1, gender1, bgroup1, emergency1):</a:t>
            </a:r>
          </a:p>
          <a:p>
            <a:r>
              <a:rPr lang="en-US" sz="2600" dirty="0"/>
              <a:t>    </a:t>
            </a:r>
            <a:r>
              <a:rPr lang="en-US" sz="2600" dirty="0" err="1"/>
              <a:t>newNode</a:t>
            </a:r>
            <a:r>
              <a:rPr lang="en-US" sz="2600" dirty="0"/>
              <a:t> = create Node with attributes (name1, age1, gender1, bgroup1, emergency1)</a:t>
            </a:r>
          </a:p>
          <a:p>
            <a:endParaRPr lang="en-US" sz="2600" dirty="0"/>
          </a:p>
          <a:p>
            <a:r>
              <a:rPr lang="en-US" sz="2600" dirty="0"/>
              <a:t>    if size is 0:</a:t>
            </a:r>
          </a:p>
          <a:p>
            <a:r>
              <a:rPr lang="en-US" sz="2600" dirty="0"/>
              <a:t>        set front and rear as </a:t>
            </a:r>
            <a:r>
              <a:rPr lang="en-US" sz="2600" dirty="0" err="1"/>
              <a:t>newNode</a:t>
            </a:r>
            <a:endParaRPr lang="en-US" sz="2600" dirty="0"/>
          </a:p>
          <a:p>
            <a:r>
              <a:rPr lang="en-US" sz="2600" dirty="0"/>
              <a:t>    else:</a:t>
            </a:r>
          </a:p>
          <a:p>
            <a:r>
              <a:rPr lang="en-US" sz="2600" dirty="0"/>
              <a:t>        if emergency1 is not equal to 0:</a:t>
            </a:r>
          </a:p>
          <a:p>
            <a:r>
              <a:rPr lang="en-US" sz="2600" dirty="0"/>
              <a:t>            </a:t>
            </a:r>
            <a:r>
              <a:rPr lang="en-US" sz="2600" dirty="0" err="1"/>
              <a:t>newNode.next</a:t>
            </a:r>
            <a:r>
              <a:rPr lang="en-US" sz="2600" dirty="0"/>
              <a:t> = front</a:t>
            </a:r>
          </a:p>
          <a:p>
            <a:r>
              <a:rPr lang="en-US" sz="2600" dirty="0"/>
              <a:t>            set front as </a:t>
            </a:r>
            <a:r>
              <a:rPr lang="en-US" sz="2600" dirty="0" err="1"/>
              <a:t>newNode</a:t>
            </a:r>
            <a:endParaRPr lang="en-US" sz="2600" dirty="0"/>
          </a:p>
          <a:p>
            <a:r>
              <a:rPr lang="en-US" sz="2600" dirty="0"/>
              <a:t>        else:</a:t>
            </a:r>
          </a:p>
          <a:p>
            <a:r>
              <a:rPr lang="en-US" sz="2600" dirty="0"/>
              <a:t>            </a:t>
            </a:r>
            <a:r>
              <a:rPr lang="en-US" sz="2600" dirty="0" err="1"/>
              <a:t>rear.next</a:t>
            </a:r>
            <a:r>
              <a:rPr lang="en-US" sz="2600" dirty="0"/>
              <a:t> = </a:t>
            </a:r>
            <a:r>
              <a:rPr lang="en-US" sz="2600" dirty="0" err="1"/>
              <a:t>newNode</a:t>
            </a:r>
            <a:endParaRPr lang="en-US" sz="2600" dirty="0"/>
          </a:p>
          <a:p>
            <a:r>
              <a:rPr lang="en-US" sz="2600" dirty="0"/>
              <a:t>            set rear as </a:t>
            </a:r>
            <a:r>
              <a:rPr lang="en-US" sz="2600" dirty="0" err="1"/>
              <a:t>newNode</a:t>
            </a:r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    increment size by 1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06117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01F9B-957B-A0AD-39E0-91CC0809E130}"/>
              </a:ext>
            </a:extLst>
          </p:cNvPr>
          <p:cNvSpPr txBox="1"/>
          <p:nvPr/>
        </p:nvSpPr>
        <p:spPr>
          <a:xfrm>
            <a:off x="4438489" y="2327344"/>
            <a:ext cx="9411022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===== Options 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1. Add Patient to Serial</a:t>
            </a:r>
          </a:p>
          <a:p>
            <a:r>
              <a:rPr lang="en-US" sz="2400" dirty="0">
                <a:solidFill>
                  <a:schemeClr val="bg1"/>
                </a:solidFill>
              </a:rPr>
              <a:t>2. Remove Patient from Serial</a:t>
            </a:r>
          </a:p>
          <a:p>
            <a:r>
              <a:rPr lang="en-US" sz="2400" dirty="0">
                <a:solidFill>
                  <a:schemeClr val="bg1"/>
                </a:solidFill>
              </a:rPr>
              <a:t>3. View Current Patient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4. View Whole Serial list</a:t>
            </a:r>
          </a:p>
          <a:p>
            <a:r>
              <a:rPr lang="en-US" sz="2400" dirty="0">
                <a:solidFill>
                  <a:schemeClr val="bg1"/>
                </a:solidFill>
              </a:rPr>
              <a:t>5. Database Options</a:t>
            </a:r>
          </a:p>
          <a:p>
            <a:r>
              <a:rPr lang="en-US" sz="2400" dirty="0">
                <a:solidFill>
                  <a:schemeClr val="bg1"/>
                </a:solidFill>
              </a:rPr>
              <a:t>6. Exit system</a:t>
            </a:r>
          </a:p>
          <a:p>
            <a:r>
              <a:rPr lang="en-US" sz="2400" dirty="0">
                <a:solidFill>
                  <a:schemeClr val="bg1"/>
                </a:solidFill>
              </a:rPr>
              <a:t>====================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Enter your choice: 3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Current Patient is 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        Name  Age  Gender  Blood Group  Emergency Status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    MASHRAFI   22    Male           O+                 0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Press any key to go back.......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ADAC12-2976-CD20-A5D2-352EEC955CF9}"/>
              </a:ext>
            </a:extLst>
          </p:cNvPr>
          <p:cNvSpPr txBox="1"/>
          <p:nvPr/>
        </p:nvSpPr>
        <p:spPr>
          <a:xfrm>
            <a:off x="6096000" y="419100"/>
            <a:ext cx="6248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View Patient at the front of the Queue</a:t>
            </a:r>
          </a:p>
        </p:txBody>
      </p:sp>
    </p:spTree>
    <p:extLst>
      <p:ext uri="{BB962C8B-B14F-4D97-AF65-F5344CB8AC3E}">
        <p14:creationId xmlns:p14="http://schemas.microsoft.com/office/powerpoint/2010/main" val="599031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A0E762-65F2-098E-2E10-0EE3D9B4D36B}"/>
              </a:ext>
            </a:extLst>
          </p:cNvPr>
          <p:cNvSpPr txBox="1"/>
          <p:nvPr/>
        </p:nvSpPr>
        <p:spPr>
          <a:xfrm>
            <a:off x="6248400" y="419100"/>
            <a:ext cx="579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err="1"/>
              <a:t>Psuedo</a:t>
            </a:r>
            <a:r>
              <a:rPr lang="en-US" sz="4800" dirty="0"/>
              <a:t> Code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C9622F4C-A661-1E3F-53CC-D133273892F5}"/>
              </a:ext>
            </a:extLst>
          </p:cNvPr>
          <p:cNvGrpSpPr/>
          <p:nvPr/>
        </p:nvGrpSpPr>
        <p:grpSpPr>
          <a:xfrm>
            <a:off x="914400" y="1862537"/>
            <a:ext cx="16230600" cy="4957364"/>
            <a:chOff x="-37022" y="472879"/>
            <a:chExt cx="2422972" cy="3479800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71231C14-5F8E-2E2D-EE9B-DA2D970D9AF9}"/>
                </a:ext>
              </a:extLst>
            </p:cNvPr>
            <p:cNvSpPr/>
            <p:nvPr/>
          </p:nvSpPr>
          <p:spPr>
            <a:xfrm>
              <a:off x="-37022" y="472879"/>
              <a:ext cx="2422972" cy="3479800"/>
            </a:xfrm>
            <a:custGeom>
              <a:avLst/>
              <a:gdLst/>
              <a:ahLst/>
              <a:cxnLst/>
              <a:rect l="l" t="t" r="r" b="b"/>
              <a:pathLst>
                <a:path w="2556540" h="3479800">
                  <a:moveTo>
                    <a:pt x="2432080" y="3479800"/>
                  </a:moveTo>
                  <a:lnTo>
                    <a:pt x="124460" y="3479800"/>
                  </a:lnTo>
                  <a:cubicBezTo>
                    <a:pt x="55880" y="3479800"/>
                    <a:pt x="0" y="3423920"/>
                    <a:pt x="0" y="33553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32080" y="0"/>
                  </a:lnTo>
                  <a:cubicBezTo>
                    <a:pt x="2500660" y="0"/>
                    <a:pt x="2556540" y="55880"/>
                    <a:pt x="2556540" y="124460"/>
                  </a:cubicBezTo>
                  <a:lnTo>
                    <a:pt x="2556540" y="3355340"/>
                  </a:lnTo>
                  <a:cubicBezTo>
                    <a:pt x="2556540" y="3423920"/>
                    <a:pt x="2500660" y="3479800"/>
                    <a:pt x="2432080" y="3479800"/>
                  </a:cubicBezTo>
                  <a:close/>
                </a:path>
              </a:pathLst>
            </a:custGeom>
            <a:solidFill>
              <a:srgbClr val="4A64B8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B669585-92FC-A37A-9321-C05D7A47B7CD}"/>
              </a:ext>
            </a:extLst>
          </p:cNvPr>
          <p:cNvSpPr txBox="1"/>
          <p:nvPr/>
        </p:nvSpPr>
        <p:spPr>
          <a:xfrm>
            <a:off x="990600" y="2019300"/>
            <a:ext cx="1600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function peek():</a:t>
            </a:r>
          </a:p>
          <a:p>
            <a:r>
              <a:rPr lang="en-US" sz="3600" dirty="0"/>
              <a:t>    if size is 0:</a:t>
            </a:r>
          </a:p>
          <a:p>
            <a:r>
              <a:rPr lang="en-US" sz="3600" dirty="0"/>
              <a:t>        output "Serial is empty"</a:t>
            </a:r>
          </a:p>
          <a:p>
            <a:r>
              <a:rPr lang="en-US" sz="3600" dirty="0"/>
              <a:t>    else:</a:t>
            </a:r>
          </a:p>
          <a:p>
            <a:r>
              <a:rPr lang="en-US" sz="3600" dirty="0"/>
              <a:t>        output formatted data:</a:t>
            </a:r>
          </a:p>
          <a:p>
            <a:r>
              <a:rPr lang="en-US" sz="3600" dirty="0"/>
              <a:t>            output "Name  Age  Gender  Blood Group  Emergency Status"</a:t>
            </a:r>
          </a:p>
          <a:p>
            <a:r>
              <a:rPr lang="en-US" sz="3600" dirty="0"/>
              <a:t>            output front node's data in formatted columns: </a:t>
            </a:r>
          </a:p>
          <a:p>
            <a:r>
              <a:rPr lang="en-US" sz="3600" dirty="0"/>
              <a:t>                output front.name, </a:t>
            </a:r>
            <a:r>
              <a:rPr lang="en-US" sz="3600" dirty="0" err="1"/>
              <a:t>front.age</a:t>
            </a:r>
            <a:r>
              <a:rPr lang="en-US" sz="3600" dirty="0"/>
              <a:t>, </a:t>
            </a:r>
            <a:r>
              <a:rPr lang="en-US" sz="3600" dirty="0" err="1"/>
              <a:t>front.gender</a:t>
            </a:r>
            <a:r>
              <a:rPr lang="en-US" sz="3600" dirty="0"/>
              <a:t>, </a:t>
            </a:r>
            <a:r>
              <a:rPr lang="en-US" sz="3600" dirty="0" err="1"/>
              <a:t>front.bgroup</a:t>
            </a:r>
            <a:r>
              <a:rPr lang="en-US" sz="3600" dirty="0"/>
              <a:t>, </a:t>
            </a:r>
            <a:r>
              <a:rPr lang="en-US" sz="3600" dirty="0" err="1"/>
              <a:t>front.emergency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49668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01920" y="0"/>
            <a:ext cx="7557654" cy="10287000"/>
            <a:chOff x="0" y="0"/>
            <a:chExt cx="2556540" cy="3479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56540" cy="3479800"/>
            </a:xfrm>
            <a:custGeom>
              <a:avLst/>
              <a:gdLst/>
              <a:ahLst/>
              <a:cxnLst/>
              <a:rect l="l" t="t" r="r" b="b"/>
              <a:pathLst>
                <a:path w="2556540" h="3479800">
                  <a:moveTo>
                    <a:pt x="2432080" y="3479800"/>
                  </a:moveTo>
                  <a:lnTo>
                    <a:pt x="124460" y="3479800"/>
                  </a:lnTo>
                  <a:cubicBezTo>
                    <a:pt x="55880" y="3479800"/>
                    <a:pt x="0" y="3423920"/>
                    <a:pt x="0" y="33553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32080" y="0"/>
                  </a:lnTo>
                  <a:cubicBezTo>
                    <a:pt x="2500660" y="0"/>
                    <a:pt x="2556540" y="55880"/>
                    <a:pt x="2556540" y="124460"/>
                  </a:cubicBezTo>
                  <a:lnTo>
                    <a:pt x="2556540" y="3355340"/>
                  </a:lnTo>
                  <a:cubicBezTo>
                    <a:pt x="2556540" y="3423920"/>
                    <a:pt x="2500660" y="3479800"/>
                    <a:pt x="2432080" y="3479800"/>
                  </a:cubicBezTo>
                  <a:close/>
                </a:path>
              </a:pathLst>
            </a:custGeom>
            <a:solidFill>
              <a:srgbClr val="4A64B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337812" y="5994818"/>
            <a:ext cx="7693546" cy="7693546"/>
            <a:chOff x="0" y="0"/>
            <a:chExt cx="10258062" cy="10258062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0258062" cy="10258062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914729" y="624292"/>
              <a:ext cx="8378056" cy="8378056"/>
              <a:chOff x="-19156" y="-239287"/>
              <a:chExt cx="6350000" cy="6350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19156" y="-239287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>
                  <a:alpha val="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" name="Freeform 9"/>
          <p:cNvSpPr/>
          <p:nvPr/>
        </p:nvSpPr>
        <p:spPr>
          <a:xfrm rot="4246957">
            <a:off x="4744097" y="3010016"/>
            <a:ext cx="811171" cy="532423"/>
          </a:xfrm>
          <a:custGeom>
            <a:avLst/>
            <a:gdLst/>
            <a:ahLst/>
            <a:cxnLst/>
            <a:rect l="l" t="t" r="r" b="b"/>
            <a:pathLst>
              <a:path w="811171" h="532423">
                <a:moveTo>
                  <a:pt x="0" y="0"/>
                </a:moveTo>
                <a:lnTo>
                  <a:pt x="811171" y="0"/>
                </a:lnTo>
                <a:lnTo>
                  <a:pt x="811171" y="532423"/>
                </a:lnTo>
                <a:lnTo>
                  <a:pt x="0" y="532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7933844">
            <a:off x="3456534" y="2536141"/>
            <a:ext cx="811171" cy="532423"/>
          </a:xfrm>
          <a:custGeom>
            <a:avLst/>
            <a:gdLst/>
            <a:ahLst/>
            <a:cxnLst/>
            <a:rect l="l" t="t" r="r" b="b"/>
            <a:pathLst>
              <a:path w="811171" h="532423">
                <a:moveTo>
                  <a:pt x="0" y="0"/>
                </a:moveTo>
                <a:lnTo>
                  <a:pt x="811172" y="0"/>
                </a:lnTo>
                <a:lnTo>
                  <a:pt x="811172" y="532424"/>
                </a:lnTo>
                <a:lnTo>
                  <a:pt x="0" y="532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4089968" flipH="1" flipV="1">
            <a:off x="4466850" y="3799596"/>
            <a:ext cx="811171" cy="532423"/>
          </a:xfrm>
          <a:custGeom>
            <a:avLst/>
            <a:gdLst/>
            <a:ahLst/>
            <a:cxnLst/>
            <a:rect l="l" t="t" r="r" b="b"/>
            <a:pathLst>
              <a:path w="811171" h="532423">
                <a:moveTo>
                  <a:pt x="811172" y="532424"/>
                </a:moveTo>
                <a:lnTo>
                  <a:pt x="0" y="532424"/>
                </a:lnTo>
                <a:lnTo>
                  <a:pt x="0" y="0"/>
                </a:lnTo>
                <a:lnTo>
                  <a:pt x="811172" y="0"/>
                </a:lnTo>
                <a:lnTo>
                  <a:pt x="811172" y="5324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10738069">
            <a:off x="3307799" y="3894433"/>
            <a:ext cx="811171" cy="532423"/>
          </a:xfrm>
          <a:custGeom>
            <a:avLst/>
            <a:gdLst/>
            <a:ahLst/>
            <a:cxnLst/>
            <a:rect l="l" t="t" r="r" b="b"/>
            <a:pathLst>
              <a:path w="811171" h="532423">
                <a:moveTo>
                  <a:pt x="0" y="0"/>
                </a:moveTo>
                <a:lnTo>
                  <a:pt x="811171" y="0"/>
                </a:lnTo>
                <a:lnTo>
                  <a:pt x="811171" y="532423"/>
                </a:lnTo>
                <a:lnTo>
                  <a:pt x="0" y="532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3102291">
            <a:off x="2549256" y="2471579"/>
            <a:ext cx="811171" cy="1292505"/>
          </a:xfrm>
          <a:custGeom>
            <a:avLst/>
            <a:gdLst/>
            <a:ahLst/>
            <a:cxnLst/>
            <a:rect l="l" t="t" r="r" b="b"/>
            <a:pathLst>
              <a:path w="811171" h="532423">
                <a:moveTo>
                  <a:pt x="0" y="0"/>
                </a:moveTo>
                <a:lnTo>
                  <a:pt x="811171" y="0"/>
                </a:lnTo>
                <a:lnTo>
                  <a:pt x="811171" y="532424"/>
                </a:lnTo>
                <a:lnTo>
                  <a:pt x="0" y="532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1028700" y="1028700"/>
            <a:ext cx="5623028" cy="3684803"/>
            <a:chOff x="0" y="0"/>
            <a:chExt cx="7497370" cy="491307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7497370" cy="1236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80"/>
                </a:lnSpc>
              </a:pPr>
              <a:r>
                <a:rPr lang="en-US" sz="6400" dirty="0">
                  <a:solidFill>
                    <a:srgbClr val="FFFFFF"/>
                  </a:solidFill>
                  <a:latin typeface="Now Bold"/>
                </a:rPr>
                <a:t>DATABASE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383694"/>
              <a:ext cx="5826525" cy="529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59"/>
                </a:lnSpc>
                <a:spcBef>
                  <a:spcPct val="0"/>
                </a:spcBef>
              </a:pPr>
              <a:endParaRPr lang="en-US" sz="2400" dirty="0">
                <a:solidFill>
                  <a:srgbClr val="FFFFFF"/>
                </a:solidFill>
                <a:latin typeface="Now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27376" y="907482"/>
            <a:ext cx="3830348" cy="2483688"/>
            <a:chOff x="0" y="0"/>
            <a:chExt cx="5107131" cy="3311585"/>
          </a:xfrm>
          <a:solidFill>
            <a:schemeClr val="accent2">
              <a:lumMod val="75000"/>
            </a:schemeClr>
          </a:solidFill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5107131" cy="3311585"/>
              <a:chOff x="0" y="0"/>
              <a:chExt cx="1295698" cy="840161"/>
            </a:xfrm>
            <a:grpFill/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295698" cy="840161"/>
              </a:xfrm>
              <a:custGeom>
                <a:avLst/>
                <a:gdLst/>
                <a:ahLst/>
                <a:cxnLst/>
                <a:rect l="l" t="t" r="r" b="b"/>
                <a:pathLst>
                  <a:path w="1295698" h="840161">
                    <a:moveTo>
                      <a:pt x="1171238" y="840161"/>
                    </a:moveTo>
                    <a:lnTo>
                      <a:pt x="124460" y="840161"/>
                    </a:lnTo>
                    <a:cubicBezTo>
                      <a:pt x="55880" y="840161"/>
                      <a:pt x="0" y="784281"/>
                      <a:pt x="0" y="71570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71238" y="0"/>
                    </a:lnTo>
                    <a:cubicBezTo>
                      <a:pt x="1239818" y="0"/>
                      <a:pt x="1295698" y="55880"/>
                      <a:pt x="1295698" y="124460"/>
                    </a:cubicBezTo>
                    <a:lnTo>
                      <a:pt x="1295698" y="715701"/>
                    </a:lnTo>
                    <a:cubicBezTo>
                      <a:pt x="1295698" y="784281"/>
                      <a:pt x="1239818" y="840161"/>
                      <a:pt x="1171238" y="84016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85635" y="426932"/>
              <a:ext cx="4339646" cy="2648162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FFFFFF"/>
                  </a:solidFill>
                  <a:latin typeface="Now"/>
                </a:rPr>
                <a:t>NAME: MAISHA</a:t>
              </a: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u="none" dirty="0">
                  <a:solidFill>
                    <a:srgbClr val="FFFFFF"/>
                  </a:solidFill>
                  <a:latin typeface="Now"/>
                </a:rPr>
                <a:t>AGE:20</a:t>
              </a: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u="none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 err="1">
                  <a:solidFill>
                    <a:srgbClr val="FFFFFF"/>
                  </a:solidFill>
                  <a:latin typeface="Now"/>
                </a:rPr>
                <a:t>GENDER:Female</a:t>
              </a: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FFFFFF"/>
                  </a:solidFill>
                  <a:latin typeface="Now"/>
                </a:rPr>
                <a:t>BLOOD GROUP:A+</a:t>
              </a:r>
              <a:endParaRPr lang="en-US" sz="2800" b="1" u="none" dirty="0">
                <a:solidFill>
                  <a:srgbClr val="FFFFFF"/>
                </a:solidFill>
                <a:latin typeface="Now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997273" y="6821970"/>
            <a:ext cx="3830348" cy="2483688"/>
            <a:chOff x="-121504" y="28025"/>
            <a:chExt cx="5107131" cy="3311585"/>
          </a:xfrm>
        </p:grpSpPr>
        <p:grpSp>
          <p:nvGrpSpPr>
            <p:cNvPr id="33" name="Group 33"/>
            <p:cNvGrpSpPr/>
            <p:nvPr/>
          </p:nvGrpSpPr>
          <p:grpSpPr>
            <a:xfrm>
              <a:off x="-121504" y="28025"/>
              <a:ext cx="5107131" cy="3311585"/>
              <a:chOff x="-30826" y="7110"/>
              <a:chExt cx="1295698" cy="84016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-30826" y="7110"/>
                <a:ext cx="1295698" cy="840161"/>
              </a:xfrm>
              <a:custGeom>
                <a:avLst/>
                <a:gdLst/>
                <a:ahLst/>
                <a:cxnLst/>
                <a:rect l="l" t="t" r="r" b="b"/>
                <a:pathLst>
                  <a:path w="1295698" h="840161">
                    <a:moveTo>
                      <a:pt x="1171238" y="840161"/>
                    </a:moveTo>
                    <a:lnTo>
                      <a:pt x="124460" y="840161"/>
                    </a:lnTo>
                    <a:cubicBezTo>
                      <a:pt x="55880" y="840161"/>
                      <a:pt x="0" y="784281"/>
                      <a:pt x="0" y="71570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71238" y="0"/>
                    </a:lnTo>
                    <a:cubicBezTo>
                      <a:pt x="1239818" y="0"/>
                      <a:pt x="1295698" y="55880"/>
                      <a:pt x="1295698" y="124460"/>
                    </a:cubicBezTo>
                    <a:lnTo>
                      <a:pt x="1295698" y="715701"/>
                    </a:lnTo>
                    <a:cubicBezTo>
                      <a:pt x="1295698" y="784281"/>
                      <a:pt x="1239818" y="840161"/>
                      <a:pt x="1171238" y="840161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305004" y="566849"/>
              <a:ext cx="4497123" cy="4686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0789" y="338757"/>
              <a:ext cx="4339646" cy="26481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FFFFFF"/>
                  </a:solidFill>
                  <a:latin typeface="Now"/>
                </a:rPr>
                <a:t>NAME: </a:t>
              </a:r>
              <a:r>
                <a:rPr lang="en-US" sz="2800" b="1" dirty="0" err="1">
                  <a:solidFill>
                    <a:srgbClr val="FFFFFF"/>
                  </a:solidFill>
                  <a:latin typeface="Now"/>
                </a:rPr>
                <a:t>Nipun</a:t>
              </a: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u="none" dirty="0">
                  <a:solidFill>
                    <a:srgbClr val="FFFFFF"/>
                  </a:solidFill>
                  <a:latin typeface="Now"/>
                </a:rPr>
                <a:t>AGE:22</a:t>
              </a: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u="none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 err="1">
                  <a:solidFill>
                    <a:srgbClr val="FFFFFF"/>
                  </a:solidFill>
                  <a:latin typeface="Now"/>
                </a:rPr>
                <a:t>GENDER:Male</a:t>
              </a: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FFFFFF"/>
                  </a:solidFill>
                  <a:latin typeface="Now"/>
                </a:rPr>
                <a:t>BLOOD GROUP:O+</a:t>
              </a:r>
              <a:endParaRPr lang="en-US" sz="2800" b="1" u="none" dirty="0">
                <a:solidFill>
                  <a:srgbClr val="FFFFFF"/>
                </a:solidFill>
                <a:latin typeface="Now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998425" y="3985050"/>
            <a:ext cx="3830347" cy="2483688"/>
            <a:chOff x="-382206" y="757573"/>
            <a:chExt cx="5107131" cy="3311585"/>
          </a:xfrm>
          <a:solidFill>
            <a:schemeClr val="accent2">
              <a:lumMod val="75000"/>
            </a:schemeClr>
          </a:solidFill>
        </p:grpSpPr>
        <p:grpSp>
          <p:nvGrpSpPr>
            <p:cNvPr id="38" name="Group 38"/>
            <p:cNvGrpSpPr/>
            <p:nvPr/>
          </p:nvGrpSpPr>
          <p:grpSpPr>
            <a:xfrm>
              <a:off x="-382206" y="757573"/>
              <a:ext cx="5107131" cy="3311585"/>
              <a:chOff x="-96967" y="192199"/>
              <a:chExt cx="1295698" cy="840161"/>
            </a:xfrm>
            <a:grpFill/>
          </p:grpSpPr>
          <p:sp>
            <p:nvSpPr>
              <p:cNvPr id="39" name="Freeform 39"/>
              <p:cNvSpPr/>
              <p:nvPr/>
            </p:nvSpPr>
            <p:spPr>
              <a:xfrm>
                <a:off x="-96967" y="192199"/>
                <a:ext cx="1295698" cy="840161"/>
              </a:xfrm>
              <a:custGeom>
                <a:avLst/>
                <a:gdLst/>
                <a:ahLst/>
                <a:cxnLst/>
                <a:rect l="l" t="t" r="r" b="b"/>
                <a:pathLst>
                  <a:path w="1295698" h="840161">
                    <a:moveTo>
                      <a:pt x="1171238" y="840161"/>
                    </a:moveTo>
                    <a:lnTo>
                      <a:pt x="124460" y="840161"/>
                    </a:lnTo>
                    <a:cubicBezTo>
                      <a:pt x="55880" y="840161"/>
                      <a:pt x="0" y="784281"/>
                      <a:pt x="0" y="71570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1171238" y="0"/>
                    </a:lnTo>
                    <a:cubicBezTo>
                      <a:pt x="1239818" y="0"/>
                      <a:pt x="1295698" y="55880"/>
                      <a:pt x="1295698" y="124460"/>
                    </a:cubicBezTo>
                    <a:lnTo>
                      <a:pt x="1295698" y="715701"/>
                    </a:lnTo>
                    <a:cubicBezTo>
                      <a:pt x="1295698" y="784281"/>
                      <a:pt x="1239818" y="840161"/>
                      <a:pt x="1171238" y="840161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1" y="896766"/>
              <a:ext cx="4339645" cy="3024334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FFFFFF"/>
                  </a:solidFill>
                  <a:latin typeface="Now"/>
                </a:rPr>
                <a:t>NAME: MASHRAFI</a:t>
              </a: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u="none" dirty="0">
                  <a:solidFill>
                    <a:srgbClr val="FFFFFF"/>
                  </a:solidFill>
                  <a:latin typeface="Now"/>
                </a:rPr>
                <a:t>AGE:20</a:t>
              </a: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u="none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 err="1">
                  <a:solidFill>
                    <a:srgbClr val="FFFFFF"/>
                  </a:solidFill>
                  <a:latin typeface="Now"/>
                </a:rPr>
                <a:t>GENDER:Male</a:t>
              </a: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endParaRPr lang="en-US" sz="2800" b="1" dirty="0">
                <a:solidFill>
                  <a:srgbClr val="FFFFFF"/>
                </a:solidFill>
                <a:latin typeface="Now"/>
              </a:endParaRPr>
            </a:p>
            <a:p>
              <a:pPr marL="0" lvl="0" indent="0" algn="ctr">
                <a:lnSpc>
                  <a:spcPts val="2240"/>
                </a:lnSpc>
                <a:spcBef>
                  <a:spcPct val="0"/>
                </a:spcBef>
              </a:pPr>
              <a:r>
                <a:rPr lang="en-US" sz="2800" b="1" dirty="0">
                  <a:solidFill>
                    <a:srgbClr val="FFFFFF"/>
                  </a:solidFill>
                  <a:latin typeface="Now"/>
                </a:rPr>
                <a:t>BLOOD GROUP:B+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90931" y="5389240"/>
            <a:ext cx="4636060" cy="4897760"/>
          </a:xfrm>
          <a:custGeom>
            <a:avLst/>
            <a:gdLst/>
            <a:ahLst/>
            <a:cxnLst/>
            <a:rect l="l" t="t" r="r" b="b"/>
            <a:pathLst>
              <a:path w="4636060" h="4897760">
                <a:moveTo>
                  <a:pt x="0" y="0"/>
                </a:moveTo>
                <a:lnTo>
                  <a:pt x="4636060" y="0"/>
                </a:lnTo>
                <a:lnTo>
                  <a:pt x="4636060" y="4897760"/>
                </a:lnTo>
                <a:lnTo>
                  <a:pt x="0" y="48977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116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1CD83BF-5D08-67E1-8BBF-A1DD20C1EEF1}"/>
              </a:ext>
            </a:extLst>
          </p:cNvPr>
          <p:cNvSpPr/>
          <p:nvPr/>
        </p:nvSpPr>
        <p:spPr>
          <a:xfrm>
            <a:off x="11184194" y="1304681"/>
            <a:ext cx="7162800" cy="1143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w"/>
              </a:rPr>
              <a:t>MAISHA            20                  Female                           A+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BB3707-9B95-2BD5-ED65-7AABAA9059EA}"/>
              </a:ext>
            </a:extLst>
          </p:cNvPr>
          <p:cNvSpPr/>
          <p:nvPr/>
        </p:nvSpPr>
        <p:spPr>
          <a:xfrm>
            <a:off x="11154697" y="4572000"/>
            <a:ext cx="7162800" cy="1143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>
              <a:lnSpc>
                <a:spcPts val="224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w"/>
              </a:rPr>
              <a:t>MAISHA            20                  Female                           A+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5CEFEC-FD17-B99D-CD21-6B2166248B37}"/>
              </a:ext>
            </a:extLst>
          </p:cNvPr>
          <p:cNvSpPr/>
          <p:nvPr/>
        </p:nvSpPr>
        <p:spPr>
          <a:xfrm>
            <a:off x="11154696" y="419100"/>
            <a:ext cx="7133303" cy="4883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NAME                         AGE                 GENDER               BLOOD GROUP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D379156-2A82-E31B-55F0-71694761FD6A}"/>
              </a:ext>
            </a:extLst>
          </p:cNvPr>
          <p:cNvSpPr/>
          <p:nvPr/>
        </p:nvSpPr>
        <p:spPr>
          <a:xfrm>
            <a:off x="10183131" y="1970819"/>
            <a:ext cx="686217" cy="121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C34C27F4-4A3B-38E7-0D64-87762101674C}"/>
              </a:ext>
            </a:extLst>
          </p:cNvPr>
          <p:cNvSpPr/>
          <p:nvPr/>
        </p:nvSpPr>
        <p:spPr>
          <a:xfrm>
            <a:off x="10153542" y="5105676"/>
            <a:ext cx="686217" cy="121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E7E8AF9-3108-7368-9997-5CAF931E3C51}"/>
              </a:ext>
            </a:extLst>
          </p:cNvPr>
          <p:cNvSpPr/>
          <p:nvPr/>
        </p:nvSpPr>
        <p:spPr>
          <a:xfrm>
            <a:off x="10111664" y="8299685"/>
            <a:ext cx="686217" cy="1212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7300DE-5AA8-06E2-6909-9EDCE6CCCAD8}"/>
              </a:ext>
            </a:extLst>
          </p:cNvPr>
          <p:cNvSpPr txBox="1"/>
          <p:nvPr/>
        </p:nvSpPr>
        <p:spPr>
          <a:xfrm>
            <a:off x="11658600" y="7886700"/>
            <a:ext cx="647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Now"/>
              </a:rPr>
              <a:t>REMOVED BUT NOT SAVED IN DATABASE 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7170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7" grpId="0" animBg="1"/>
      <p:bldP spid="28" grpId="0" animBg="1"/>
      <p:bldP spid="29" grpId="0" animBg="1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1862536"/>
            <a:ext cx="16230600" cy="6123681"/>
            <a:chOff x="-37022" y="472879"/>
            <a:chExt cx="2422972" cy="3479800"/>
          </a:xfrm>
        </p:grpSpPr>
        <p:sp>
          <p:nvSpPr>
            <p:cNvPr id="3" name="Freeform 3"/>
            <p:cNvSpPr/>
            <p:nvPr/>
          </p:nvSpPr>
          <p:spPr>
            <a:xfrm>
              <a:off x="-37022" y="472879"/>
              <a:ext cx="2422972" cy="3479800"/>
            </a:xfrm>
            <a:custGeom>
              <a:avLst/>
              <a:gdLst/>
              <a:ahLst/>
              <a:cxnLst/>
              <a:rect l="l" t="t" r="r" b="b"/>
              <a:pathLst>
                <a:path w="2556540" h="3479800">
                  <a:moveTo>
                    <a:pt x="2432080" y="3479800"/>
                  </a:moveTo>
                  <a:lnTo>
                    <a:pt x="124460" y="3479800"/>
                  </a:lnTo>
                  <a:cubicBezTo>
                    <a:pt x="55880" y="3479800"/>
                    <a:pt x="0" y="3423920"/>
                    <a:pt x="0" y="335534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32080" y="0"/>
                  </a:lnTo>
                  <a:cubicBezTo>
                    <a:pt x="2500660" y="0"/>
                    <a:pt x="2556540" y="55880"/>
                    <a:pt x="2556540" y="124460"/>
                  </a:cubicBezTo>
                  <a:lnTo>
                    <a:pt x="2556540" y="3355340"/>
                  </a:lnTo>
                  <a:cubicBezTo>
                    <a:pt x="2556540" y="3423920"/>
                    <a:pt x="2500660" y="3479800"/>
                    <a:pt x="2432080" y="3479800"/>
                  </a:cubicBezTo>
                  <a:close/>
                </a:path>
              </a:pathLst>
            </a:custGeom>
            <a:solidFill>
              <a:srgbClr val="4A64B8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28700"/>
            <a:ext cx="5623028" cy="3684803"/>
            <a:chOff x="0" y="0"/>
            <a:chExt cx="7497370" cy="491307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0"/>
              <a:ext cx="7497370" cy="12365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7680"/>
                </a:lnSpc>
              </a:pPr>
              <a:endParaRPr lang="en-US" sz="6400" dirty="0">
                <a:solidFill>
                  <a:srgbClr val="FFFFFF"/>
                </a:solidFill>
                <a:latin typeface="Now Bold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4383694"/>
              <a:ext cx="5826525" cy="529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359"/>
                </a:lnSpc>
                <a:spcBef>
                  <a:spcPct val="0"/>
                </a:spcBef>
              </a:pPr>
              <a:endParaRPr lang="en-US" sz="2400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2C336FA-CF7B-4526-1A7D-EF82EC7CF966}"/>
              </a:ext>
            </a:extLst>
          </p:cNvPr>
          <p:cNvSpPr txBox="1"/>
          <p:nvPr/>
        </p:nvSpPr>
        <p:spPr>
          <a:xfrm>
            <a:off x="7678634" y="155378"/>
            <a:ext cx="32643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Pseudo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3B8B8-5BAB-5863-E646-5129EE116CDF}"/>
              </a:ext>
            </a:extLst>
          </p:cNvPr>
          <p:cNvSpPr txBox="1"/>
          <p:nvPr/>
        </p:nvSpPr>
        <p:spPr>
          <a:xfrm>
            <a:off x="1028700" y="1837420"/>
            <a:ext cx="160401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function </a:t>
            </a:r>
            <a:r>
              <a:rPr lang="en-US" sz="3600" dirty="0" err="1"/>
              <a:t>dequeueAdd</a:t>
            </a:r>
            <a:r>
              <a:rPr lang="en-US" sz="3600" dirty="0"/>
              <a:t>():</a:t>
            </a:r>
          </a:p>
          <a:p>
            <a:r>
              <a:rPr lang="en-US" sz="3600" dirty="0"/>
              <a:t>    if size is 0:</a:t>
            </a:r>
          </a:p>
          <a:p>
            <a:r>
              <a:rPr lang="en-US" sz="3600" dirty="0"/>
              <a:t>        output "Serial is empty"</a:t>
            </a:r>
          </a:p>
          <a:p>
            <a:r>
              <a:rPr lang="en-US" sz="3600" dirty="0"/>
              <a:t>        return</a:t>
            </a:r>
          </a:p>
          <a:p>
            <a:endParaRPr lang="en-US" sz="3600" dirty="0"/>
          </a:p>
          <a:p>
            <a:r>
              <a:rPr lang="en-US" sz="3600" dirty="0"/>
              <a:t>    temp = front</a:t>
            </a:r>
          </a:p>
          <a:p>
            <a:r>
              <a:rPr lang="en-US" sz="3600" dirty="0"/>
              <a:t>    set front as </a:t>
            </a:r>
            <a:r>
              <a:rPr lang="en-US" sz="3600" dirty="0" err="1"/>
              <a:t>front.next</a:t>
            </a:r>
            <a:endParaRPr lang="en-US" sz="3600" dirty="0"/>
          </a:p>
          <a:p>
            <a:r>
              <a:rPr lang="en-US" sz="3600" dirty="0"/>
              <a:t>    add data (name, age, gender, </a:t>
            </a:r>
            <a:r>
              <a:rPr lang="en-US" sz="3600" dirty="0" err="1"/>
              <a:t>bgroup</a:t>
            </a:r>
            <a:r>
              <a:rPr lang="en-US" sz="3600" dirty="0"/>
              <a:t>, emergency) to database at the end</a:t>
            </a:r>
          </a:p>
          <a:p>
            <a:r>
              <a:rPr lang="en-US" sz="3600" dirty="0"/>
              <a:t>    delete temp</a:t>
            </a:r>
          </a:p>
          <a:p>
            <a:r>
              <a:rPr lang="en-US" sz="3600" dirty="0"/>
              <a:t>    decrease size by 1</a:t>
            </a:r>
          </a:p>
          <a:p>
            <a:r>
              <a:rPr lang="en-US" sz="3600" dirty="0"/>
              <a:t>    output "Patient successfully removed and added to database"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966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3771900"/>
            <a:ext cx="2956323" cy="4775175"/>
            <a:chOff x="0" y="0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4396791"/>
            <a:ext cx="2956323" cy="3624809"/>
            <a:chOff x="0" y="0"/>
            <a:chExt cx="1000040" cy="122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4353426"/>
            <a:ext cx="2956323" cy="3624809"/>
            <a:chOff x="7595" y="-9562"/>
            <a:chExt cx="1000040" cy="1226170"/>
          </a:xfrm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77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90112"/>
            <a:ext cx="18288000" cy="1844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</a:pPr>
            <a:r>
              <a:rPr lang="en-US" sz="7999" spc="-767" dirty="0">
                <a:solidFill>
                  <a:srgbClr val="156669"/>
                </a:solidFill>
                <a:latin typeface="Public Sans"/>
              </a:rPr>
              <a:t>Search Database</a:t>
            </a:r>
          </a:p>
          <a:p>
            <a:pPr marL="0" lvl="0" indent="0" algn="ctr">
              <a:lnSpc>
                <a:spcPts val="7679"/>
              </a:lnSpc>
            </a:pPr>
            <a:r>
              <a:rPr lang="en-US" sz="4000" spc="-767" dirty="0">
                <a:solidFill>
                  <a:srgbClr val="156669"/>
                </a:solidFill>
                <a:latin typeface="Public Sans"/>
              </a:rPr>
              <a:t>(   B y    N a m e   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01F9B-957B-A0AD-39E0-91CC0809E130}"/>
              </a:ext>
            </a:extLst>
          </p:cNvPr>
          <p:cNvSpPr txBox="1"/>
          <p:nvPr/>
        </p:nvSpPr>
        <p:spPr>
          <a:xfrm>
            <a:off x="990600" y="3675233"/>
            <a:ext cx="8153400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===== Database Options 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1.  View Database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2.  Search Database by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3.  Search Database by Blood Group</a:t>
            </a:r>
          </a:p>
          <a:p>
            <a:r>
              <a:rPr lang="en-US" sz="2400" dirty="0">
                <a:solidFill>
                  <a:schemeClr val="bg1"/>
                </a:solidFill>
              </a:rPr>
              <a:t>4.  Delete Entry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====================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Enter your choice: 2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Enter name to search</a:t>
            </a:r>
          </a:p>
          <a:p>
            <a:r>
              <a:rPr lang="en-US" sz="2400" dirty="0">
                <a:solidFill>
                  <a:schemeClr val="bg1"/>
                </a:solidFill>
              </a:rPr>
              <a:t>Mehnaz </a:t>
            </a:r>
            <a:r>
              <a:rPr lang="en-US" sz="2400" dirty="0" err="1">
                <a:solidFill>
                  <a:schemeClr val="bg1"/>
                </a:solidFill>
              </a:rPr>
              <a:t>Aurpa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Patient found: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        Name  Age  Gender  Blood Group  Emergency Status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Mehnaz </a:t>
            </a:r>
            <a:r>
              <a:rPr lang="en-US" sz="2400" dirty="0" err="1">
                <a:solidFill>
                  <a:schemeClr val="bg1"/>
                </a:solidFill>
              </a:rPr>
              <a:t>Aurpa</a:t>
            </a:r>
            <a:r>
              <a:rPr lang="en-US" sz="2400" dirty="0">
                <a:solidFill>
                  <a:schemeClr val="bg1"/>
                </a:solidFill>
              </a:rPr>
              <a:t>   19  Female          AB+                 0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Press any key to go back.......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EC4A0-8A86-CB46-5B32-D6ECFC4D951B}"/>
              </a:ext>
            </a:extLst>
          </p:cNvPr>
          <p:cNvSpPr txBox="1"/>
          <p:nvPr/>
        </p:nvSpPr>
        <p:spPr>
          <a:xfrm>
            <a:off x="10454185" y="3675233"/>
            <a:ext cx="6782443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===== Database Options 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1.  View Database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2.  Search Database by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3.  Search Database by Blood Group</a:t>
            </a:r>
          </a:p>
          <a:p>
            <a:r>
              <a:rPr lang="en-US" sz="2400" dirty="0">
                <a:solidFill>
                  <a:schemeClr val="bg1"/>
                </a:solidFill>
              </a:rPr>
              <a:t>4.  Delete Entry</a:t>
            </a:r>
          </a:p>
          <a:p>
            <a:r>
              <a:rPr lang="en-US" sz="2400" dirty="0">
                <a:solidFill>
                  <a:schemeClr val="bg1"/>
                </a:solidFill>
              </a:rPr>
              <a:t>====================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Enter your choice: 2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Enter name to search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Musabbir</a:t>
            </a:r>
            <a:r>
              <a:rPr lang="en-US" sz="2400" dirty="0">
                <a:solidFill>
                  <a:schemeClr val="bg1"/>
                </a:solidFill>
              </a:rPr>
              <a:t> Hasan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Patient not found.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Press any key to go back.......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B166B-9F79-9544-461A-1FAD56E605DD}"/>
              </a:ext>
            </a:extLst>
          </p:cNvPr>
          <p:cNvSpPr txBox="1"/>
          <p:nvPr/>
        </p:nvSpPr>
        <p:spPr>
          <a:xfrm>
            <a:off x="3467100" y="3059679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Found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EEC9BF-3D9C-2D9A-FA65-45AAE4152F47}"/>
              </a:ext>
            </a:extLst>
          </p:cNvPr>
          <p:cNvSpPr txBox="1"/>
          <p:nvPr/>
        </p:nvSpPr>
        <p:spPr>
          <a:xfrm>
            <a:off x="12347812" y="3059679"/>
            <a:ext cx="320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Not Found</a:t>
            </a:r>
          </a:p>
        </p:txBody>
      </p:sp>
    </p:spTree>
    <p:extLst>
      <p:ext uri="{BB962C8B-B14F-4D97-AF65-F5344CB8AC3E}">
        <p14:creationId xmlns:p14="http://schemas.microsoft.com/office/powerpoint/2010/main" val="122939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390112"/>
            <a:ext cx="18288000" cy="1774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</a:pPr>
            <a:r>
              <a:rPr lang="en-US" sz="7999" spc="-767" dirty="0">
                <a:solidFill>
                  <a:srgbClr val="156669"/>
                </a:solidFill>
                <a:latin typeface="Public Sans"/>
              </a:rPr>
              <a:t>Pseudo Code</a:t>
            </a:r>
          </a:p>
          <a:p>
            <a:pPr marL="0" lvl="0" indent="0" algn="ctr">
              <a:lnSpc>
                <a:spcPts val="7679"/>
              </a:lnSpc>
            </a:pPr>
            <a:endParaRPr lang="en-US" sz="1600" spc="-767" dirty="0">
              <a:solidFill>
                <a:srgbClr val="156669"/>
              </a:solidFill>
              <a:latin typeface="Public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01F9B-957B-A0AD-39E0-91CC0809E130}"/>
              </a:ext>
            </a:extLst>
          </p:cNvPr>
          <p:cNvSpPr txBox="1"/>
          <p:nvPr/>
        </p:nvSpPr>
        <p:spPr>
          <a:xfrm>
            <a:off x="4610100" y="3695700"/>
            <a:ext cx="9067800" cy="563231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function </a:t>
            </a:r>
            <a:r>
              <a:rPr lang="en-US" sz="3600" dirty="0" err="1">
                <a:solidFill>
                  <a:schemeClr val="bg1"/>
                </a:solidFill>
              </a:rPr>
              <a:t>searchByName</a:t>
            </a:r>
            <a:r>
              <a:rPr lang="en-US" sz="3600" dirty="0">
                <a:solidFill>
                  <a:schemeClr val="bg1"/>
                </a:solidFill>
              </a:rPr>
              <a:t>(</a:t>
            </a:r>
            <a:r>
              <a:rPr lang="en-US" sz="3600" dirty="0" err="1">
                <a:solidFill>
                  <a:schemeClr val="bg1"/>
                </a:solidFill>
              </a:rPr>
              <a:t>nameToSearch</a:t>
            </a:r>
            <a:r>
              <a:rPr lang="en-US" sz="3600" dirty="0">
                <a:solidFill>
                  <a:schemeClr val="bg1"/>
                </a:solidFill>
              </a:rPr>
              <a:t>):</a:t>
            </a:r>
          </a:p>
          <a:p>
            <a:r>
              <a:rPr lang="en-US" sz="3600" dirty="0">
                <a:solidFill>
                  <a:schemeClr val="bg1"/>
                </a:solidFill>
              </a:rPr>
              <a:t>    current = head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    while current is not equal to </a:t>
            </a:r>
            <a:r>
              <a:rPr lang="en-US" sz="3600" dirty="0" err="1">
                <a:solidFill>
                  <a:schemeClr val="bg1"/>
                </a:solidFill>
              </a:rPr>
              <a:t>nullptr</a:t>
            </a:r>
            <a:r>
              <a:rPr lang="en-US" sz="3600" dirty="0">
                <a:solidFill>
                  <a:schemeClr val="bg1"/>
                </a:solidFill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</a:rPr>
              <a:t>        if current.name is equal to </a:t>
            </a:r>
            <a:r>
              <a:rPr lang="en-US" sz="3600" dirty="0" err="1">
                <a:solidFill>
                  <a:schemeClr val="bg1"/>
                </a:solidFill>
              </a:rPr>
              <a:t>nameToSearch</a:t>
            </a:r>
            <a:r>
              <a:rPr lang="en-US" sz="3600" dirty="0">
                <a:solidFill>
                  <a:schemeClr val="bg1"/>
                </a:solidFill>
              </a:rPr>
              <a:t>:</a:t>
            </a:r>
          </a:p>
          <a:p>
            <a:r>
              <a:rPr lang="en-US" sz="3600" dirty="0">
                <a:solidFill>
                  <a:schemeClr val="bg1"/>
                </a:solidFill>
              </a:rPr>
              <a:t>            return current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        set current as </a:t>
            </a:r>
            <a:r>
              <a:rPr lang="en-US" sz="3600" dirty="0" err="1">
                <a:solidFill>
                  <a:schemeClr val="bg1"/>
                </a:solidFill>
              </a:rPr>
              <a:t>current.next</a:t>
            </a:r>
            <a:endParaRPr lang="en-US" sz="36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</a:rPr>
              <a:t>    return </a:t>
            </a:r>
            <a:r>
              <a:rPr lang="en-US" sz="3600" dirty="0" err="1">
                <a:solidFill>
                  <a:schemeClr val="bg1"/>
                </a:solidFill>
              </a:rPr>
              <a:t>nullptr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B166B-9F79-9544-461A-1FAD56E605DD}"/>
              </a:ext>
            </a:extLst>
          </p:cNvPr>
          <p:cNvSpPr txBox="1"/>
          <p:nvPr/>
        </p:nvSpPr>
        <p:spPr>
          <a:xfrm>
            <a:off x="7543800" y="2781300"/>
            <a:ext cx="320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Linear Search</a:t>
            </a:r>
          </a:p>
        </p:txBody>
      </p:sp>
    </p:spTree>
    <p:extLst>
      <p:ext uri="{BB962C8B-B14F-4D97-AF65-F5344CB8AC3E}">
        <p14:creationId xmlns:p14="http://schemas.microsoft.com/office/powerpoint/2010/main" val="3497235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3771900"/>
            <a:ext cx="2956323" cy="4775175"/>
            <a:chOff x="0" y="0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4396791"/>
            <a:ext cx="2956323" cy="3624809"/>
            <a:chOff x="0" y="0"/>
            <a:chExt cx="1000040" cy="122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4353426"/>
            <a:ext cx="2956323" cy="3624809"/>
            <a:chOff x="7595" y="-9562"/>
            <a:chExt cx="1000040" cy="1226170"/>
          </a:xfrm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37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4413250"/>
            <a:ext cx="2956323" cy="3624809"/>
            <a:chOff x="0" y="0"/>
            <a:chExt cx="1000040" cy="122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3496343"/>
            <a:ext cx="2956323" cy="5457157"/>
            <a:chOff x="0" y="0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4353426"/>
            <a:ext cx="2956323" cy="3624809"/>
            <a:chOff x="7595" y="-9562"/>
            <a:chExt cx="1000040" cy="1226170"/>
          </a:xfrm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857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304800" y="390112"/>
            <a:ext cx="10634576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</a:pPr>
            <a:r>
              <a:rPr lang="en-US" sz="7999" spc="-767" dirty="0">
                <a:solidFill>
                  <a:schemeClr val="tx2">
                    <a:lumMod val="50000"/>
                  </a:schemeClr>
                </a:solidFill>
                <a:latin typeface="Public Sans"/>
              </a:rPr>
              <a:t>Viewing whole data base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B705A-FE49-50A9-F12C-340452B38CDC}"/>
              </a:ext>
            </a:extLst>
          </p:cNvPr>
          <p:cNvSpPr/>
          <p:nvPr/>
        </p:nvSpPr>
        <p:spPr>
          <a:xfrm>
            <a:off x="838200" y="1866900"/>
            <a:ext cx="12268200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/>
          </a:p>
          <a:p>
            <a:pPr algn="ctr"/>
            <a:r>
              <a:rPr lang="en-US" sz="2800" b="1" dirty="0"/>
              <a:t>NAME                           AGE                            GENDER                          BLOOD GROUP</a:t>
            </a:r>
          </a:p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F1DD24-71CC-196B-6D0E-53C505252BE3}"/>
              </a:ext>
            </a:extLst>
          </p:cNvPr>
          <p:cNvSpPr/>
          <p:nvPr/>
        </p:nvSpPr>
        <p:spPr>
          <a:xfrm>
            <a:off x="840658" y="2705100"/>
            <a:ext cx="12268200" cy="1447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MAISHA                  20                        Female                                  A+</a:t>
            </a:r>
          </a:p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B5FD6C-F825-3F80-968D-716ADD2A56B8}"/>
              </a:ext>
            </a:extLst>
          </p:cNvPr>
          <p:cNvSpPr/>
          <p:nvPr/>
        </p:nvSpPr>
        <p:spPr>
          <a:xfrm>
            <a:off x="838200" y="4463788"/>
            <a:ext cx="12268200" cy="1447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JERRY                  22                        Female                                  O+</a:t>
            </a:r>
          </a:p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6BEA91-B717-07E7-9EAA-EBD8FCC0AE51}"/>
              </a:ext>
            </a:extLst>
          </p:cNvPr>
          <p:cNvSpPr/>
          <p:nvPr/>
        </p:nvSpPr>
        <p:spPr>
          <a:xfrm>
            <a:off x="838200" y="6178923"/>
            <a:ext cx="12268200" cy="1447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MASHRAFI            21                      Male                                  AB+</a:t>
            </a:r>
          </a:p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21BECB-D2F5-D602-A709-E0559104B63B}"/>
              </a:ext>
            </a:extLst>
          </p:cNvPr>
          <p:cNvSpPr/>
          <p:nvPr/>
        </p:nvSpPr>
        <p:spPr>
          <a:xfrm>
            <a:off x="838200" y="7887913"/>
            <a:ext cx="12268200" cy="14478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</a:rPr>
              <a:t>NIPUN                  21                      Male                                  B+</a:t>
            </a:r>
          </a:p>
          <a:p>
            <a:pPr algn="ctr"/>
            <a:r>
              <a:rPr lang="en-US" sz="3200" b="1" dirty="0">
                <a:solidFill>
                  <a:schemeClr val="accent4">
                    <a:lumMod val="50000"/>
                  </a:schemeClr>
                </a:solidFill>
                <a:latin typeface="Now"/>
              </a:rPr>
              <a:t>               </a:t>
            </a:r>
            <a:endParaRPr lang="en-US" sz="32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B8E14-0872-B43A-85E2-3FF4E63BC62F}"/>
              </a:ext>
            </a:extLst>
          </p:cNvPr>
          <p:cNvSpPr/>
          <p:nvPr/>
        </p:nvSpPr>
        <p:spPr>
          <a:xfrm>
            <a:off x="1371600" y="2787388"/>
            <a:ext cx="1981200" cy="1060712"/>
          </a:xfrm>
          <a:prstGeom prst="ellipse">
            <a:avLst/>
          </a:prstGeom>
          <a:noFill/>
          <a:ln w="762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7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4413250"/>
            <a:ext cx="2956323" cy="3624809"/>
            <a:chOff x="0" y="0"/>
            <a:chExt cx="1000040" cy="122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3496343"/>
            <a:ext cx="2956323" cy="5457157"/>
            <a:chOff x="0" y="0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4353426"/>
            <a:ext cx="2956323" cy="3624809"/>
            <a:chOff x="7595" y="-9562"/>
            <a:chExt cx="1000040" cy="1226170"/>
          </a:xfrm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3210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4413250"/>
            <a:ext cx="2956323" cy="3624809"/>
            <a:chOff x="0" y="0"/>
            <a:chExt cx="1000040" cy="122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4396791"/>
            <a:ext cx="2956323" cy="3624809"/>
            <a:chOff x="0" y="0"/>
            <a:chExt cx="1000040" cy="122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3411900"/>
            <a:ext cx="2956323" cy="5617800"/>
            <a:chOff x="7595" y="-9562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58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7200" y="457562"/>
            <a:ext cx="10634576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7679"/>
              </a:lnSpc>
            </a:pPr>
            <a:r>
              <a:rPr lang="en-US" sz="7999" spc="-767" dirty="0">
                <a:solidFill>
                  <a:schemeClr val="tx2">
                    <a:lumMod val="50000"/>
                  </a:schemeClr>
                </a:solidFill>
                <a:latin typeface="Public Sans"/>
              </a:rPr>
              <a:t>Sorting whole data base by blood group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BB705A-FE49-50A9-F12C-340452B38CDC}"/>
              </a:ext>
            </a:extLst>
          </p:cNvPr>
          <p:cNvSpPr/>
          <p:nvPr/>
        </p:nvSpPr>
        <p:spPr>
          <a:xfrm>
            <a:off x="25139" y="2889602"/>
            <a:ext cx="11142406" cy="60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NAME                AGE               GENDER               BLOOD GROUP</a:t>
            </a:r>
          </a:p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B5FD6C-F825-3F80-968D-716ADD2A56B8}"/>
              </a:ext>
            </a:extLst>
          </p:cNvPr>
          <p:cNvSpPr/>
          <p:nvPr/>
        </p:nvSpPr>
        <p:spPr>
          <a:xfrm>
            <a:off x="76328" y="7811125"/>
            <a:ext cx="11142406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Now"/>
              </a:rPr>
              <a:t>SAZIN                23                             male                       A+                 </a:t>
            </a:r>
            <a:r>
              <a:rPr lang="en-US" sz="1800" dirty="0">
                <a:solidFill>
                  <a:srgbClr val="FFFFFF"/>
                </a:solidFill>
                <a:latin typeface="Now"/>
              </a:rPr>
              <a:t>             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6BEA91-B717-07E7-9EAA-EBD8FCC0AE51}"/>
              </a:ext>
            </a:extLst>
          </p:cNvPr>
          <p:cNvSpPr/>
          <p:nvPr/>
        </p:nvSpPr>
        <p:spPr>
          <a:xfrm>
            <a:off x="76328" y="5981175"/>
            <a:ext cx="11142406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Now"/>
              </a:rPr>
              <a:t>FAZLE               22                           male                       A-                 </a:t>
            </a:r>
            <a:r>
              <a:rPr lang="en-US" sz="2800" dirty="0">
                <a:solidFill>
                  <a:srgbClr val="FFFFFF"/>
                </a:solidFill>
                <a:latin typeface="Now"/>
              </a:rPr>
              <a:t>             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21BECB-D2F5-D602-A709-E0559104B63B}"/>
              </a:ext>
            </a:extLst>
          </p:cNvPr>
          <p:cNvSpPr/>
          <p:nvPr/>
        </p:nvSpPr>
        <p:spPr>
          <a:xfrm>
            <a:off x="81138" y="4151225"/>
            <a:ext cx="11142406" cy="1447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Now"/>
              </a:rPr>
              <a:t>RUMO                21                           male                       B+                 </a:t>
            </a:r>
            <a:r>
              <a:rPr lang="en-US" sz="2800" dirty="0">
                <a:solidFill>
                  <a:srgbClr val="FFFFFF"/>
                </a:solidFill>
                <a:latin typeface="Now"/>
              </a:rPr>
              <a:t>             </a:t>
            </a:r>
            <a:endParaRPr lang="en-US" sz="2800" dirty="0"/>
          </a:p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F1CA2-1D25-8237-0231-DC9EB22E39D1}"/>
              </a:ext>
            </a:extLst>
          </p:cNvPr>
          <p:cNvSpPr txBox="1"/>
          <p:nvPr/>
        </p:nvSpPr>
        <p:spPr>
          <a:xfrm>
            <a:off x="11429229" y="1843014"/>
            <a:ext cx="6782443" cy="553997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===== Database Options =====</a:t>
            </a:r>
          </a:p>
          <a:p>
            <a:r>
              <a:rPr lang="en-US" sz="2400" dirty="0">
                <a:solidFill>
                  <a:schemeClr val="bg1"/>
                </a:solidFill>
              </a:rPr>
              <a:t>5.  Sort by Name</a:t>
            </a:r>
          </a:p>
          <a:p>
            <a:r>
              <a:rPr lang="en-US" sz="2400" dirty="0">
                <a:solidFill>
                  <a:schemeClr val="bg1"/>
                </a:solidFill>
              </a:rPr>
              <a:t>6.  Sort by Age</a:t>
            </a:r>
          </a:p>
          <a:p>
            <a:r>
              <a:rPr lang="en-US" sz="2400" dirty="0">
                <a:solidFill>
                  <a:schemeClr val="bg1"/>
                </a:solidFill>
              </a:rPr>
              <a:t>7.  Sort by Gender</a:t>
            </a:r>
          </a:p>
          <a:p>
            <a:pPr marL="342900" indent="-342900">
              <a:buAutoNum type="arabicPeriod" startAt="8"/>
            </a:pPr>
            <a:r>
              <a:rPr lang="en-US" sz="2400" dirty="0">
                <a:solidFill>
                  <a:schemeClr val="bg1"/>
                </a:solidFill>
              </a:rPr>
              <a:t>Sort by Blood Group</a:t>
            </a:r>
          </a:p>
          <a:p>
            <a:pPr marL="342900" indent="-342900">
              <a:buAutoNum type="arabicPeriod" startAt="8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AutoNum type="arabicPeriod" startAt="8"/>
            </a:pP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Enter your choice: </a:t>
            </a:r>
          </a:p>
          <a:p>
            <a:r>
              <a:rPr lang="en-US" sz="2400" dirty="0">
                <a:solidFill>
                  <a:schemeClr val="bg1"/>
                </a:solidFill>
              </a:rPr>
              <a:t>                                8</a:t>
            </a:r>
          </a:p>
          <a:p>
            <a:r>
              <a:rPr lang="en-US" sz="2400" dirty="0">
                <a:solidFill>
                  <a:schemeClr val="bg1"/>
                </a:solidFill>
              </a:rPr>
              <a:t>Showing Database:</a:t>
            </a:r>
          </a:p>
          <a:p>
            <a:r>
              <a:rPr lang="en-US" sz="2400" dirty="0">
                <a:solidFill>
                  <a:schemeClr val="bg1"/>
                </a:solidFill>
              </a:rPr>
              <a:t>Name  Age  Gender  Blood Group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Sazin</a:t>
            </a:r>
            <a:r>
              <a:rPr lang="en-US" sz="2400" dirty="0">
                <a:solidFill>
                  <a:schemeClr val="bg1"/>
                </a:solidFill>
              </a:rPr>
              <a:t>    23    Male           A+                 </a:t>
            </a:r>
          </a:p>
          <a:p>
            <a:r>
              <a:rPr lang="en-US" sz="2400" dirty="0">
                <a:solidFill>
                  <a:schemeClr val="bg1"/>
                </a:solidFill>
              </a:rPr>
              <a:t>Fazle    22    Male           A-                 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Rumo</a:t>
            </a:r>
            <a:r>
              <a:rPr lang="en-US" sz="2400" dirty="0">
                <a:solidFill>
                  <a:schemeClr val="bg1"/>
                </a:solidFill>
              </a:rPr>
              <a:t>   21    Male           B+                 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03476A-1E36-18B1-E1DF-3BCE726946FB}"/>
              </a:ext>
            </a:extLst>
          </p:cNvPr>
          <p:cNvGrpSpPr/>
          <p:nvPr/>
        </p:nvGrpSpPr>
        <p:grpSpPr>
          <a:xfrm>
            <a:off x="9296400" y="4016288"/>
            <a:ext cx="5531424" cy="5242637"/>
            <a:chOff x="9296400" y="4016288"/>
            <a:chExt cx="5531424" cy="5242637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DA882B3C-BAE1-8B96-7D38-26C2381A3A9B}"/>
                </a:ext>
              </a:extLst>
            </p:cNvPr>
            <p:cNvSpPr/>
            <p:nvPr/>
          </p:nvSpPr>
          <p:spPr>
            <a:xfrm>
              <a:off x="9296400" y="4016288"/>
              <a:ext cx="1447800" cy="5242637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DD34B39-E4A0-04AD-AE47-1F442CC1FD89}"/>
                </a:ext>
              </a:extLst>
            </p:cNvPr>
            <p:cNvSpPr/>
            <p:nvPr/>
          </p:nvSpPr>
          <p:spPr>
            <a:xfrm>
              <a:off x="14065824" y="5913705"/>
              <a:ext cx="762000" cy="1447801"/>
            </a:xfrm>
            <a:prstGeom prst="ellipse">
              <a:avLst/>
            </a:prstGeom>
            <a:noFill/>
            <a:ln w="38100">
              <a:solidFill>
                <a:srgbClr val="C00000"/>
              </a:solidFill>
              <a:prstDash val="dash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0478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40517"/>
            <a:ext cx="1828800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679"/>
              </a:lnSpc>
            </a:pPr>
            <a:r>
              <a:rPr lang="en-US" sz="6000" spc="-767" dirty="0">
                <a:solidFill>
                  <a:srgbClr val="156669"/>
                </a:solidFill>
                <a:latin typeface="Public Sans"/>
              </a:rPr>
              <a:t>Pseudo Code</a:t>
            </a:r>
          </a:p>
          <a:p>
            <a:pPr marL="0" lvl="0" indent="0" algn="ctr">
              <a:lnSpc>
                <a:spcPts val="7679"/>
              </a:lnSpc>
            </a:pPr>
            <a:endParaRPr lang="en-US" sz="6000" spc="-767" dirty="0">
              <a:solidFill>
                <a:srgbClr val="156669"/>
              </a:solidFill>
              <a:latin typeface="Public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01F9B-957B-A0AD-39E0-91CC0809E130}"/>
              </a:ext>
            </a:extLst>
          </p:cNvPr>
          <p:cNvSpPr txBox="1"/>
          <p:nvPr/>
        </p:nvSpPr>
        <p:spPr>
          <a:xfrm>
            <a:off x="4610100" y="2716059"/>
            <a:ext cx="9067800" cy="649408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function </a:t>
            </a:r>
            <a:r>
              <a:rPr lang="en-US" sz="2600" dirty="0" err="1">
                <a:solidFill>
                  <a:schemeClr val="bg1"/>
                </a:solidFill>
              </a:rPr>
              <a:t>sortByBGroup</a:t>
            </a:r>
            <a:r>
              <a:rPr lang="en-US" sz="2600" dirty="0">
                <a:solidFill>
                  <a:schemeClr val="bg1"/>
                </a:solidFill>
              </a:rPr>
              <a:t>():</a:t>
            </a:r>
          </a:p>
          <a:p>
            <a:r>
              <a:rPr lang="en-US" sz="2600" dirty="0">
                <a:solidFill>
                  <a:schemeClr val="bg1"/>
                </a:solidFill>
              </a:rPr>
              <a:t>    current = head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    while current is not equal to </a:t>
            </a:r>
            <a:r>
              <a:rPr lang="en-US" sz="2600" dirty="0" err="1">
                <a:solidFill>
                  <a:schemeClr val="bg1"/>
                </a:solidFill>
              </a:rPr>
              <a:t>nullptr</a:t>
            </a:r>
            <a:r>
              <a:rPr lang="en-US" sz="2600" dirty="0">
                <a:solidFill>
                  <a:schemeClr val="bg1"/>
                </a:solidFill>
              </a:rPr>
              <a:t>:</a:t>
            </a:r>
          </a:p>
          <a:p>
            <a:r>
              <a:rPr lang="en-US" sz="2600" dirty="0">
                <a:solidFill>
                  <a:schemeClr val="bg1"/>
                </a:solidFill>
              </a:rPr>
              <a:t>        </a:t>
            </a:r>
            <a:r>
              <a:rPr lang="en-US" sz="2600" dirty="0" err="1">
                <a:solidFill>
                  <a:schemeClr val="bg1"/>
                </a:solidFill>
              </a:rPr>
              <a:t>minNode</a:t>
            </a:r>
            <a:r>
              <a:rPr lang="en-US" sz="2600" dirty="0">
                <a:solidFill>
                  <a:schemeClr val="bg1"/>
                </a:solidFill>
              </a:rPr>
              <a:t> = current</a:t>
            </a:r>
          </a:p>
          <a:p>
            <a:r>
              <a:rPr lang="en-US" sz="2600" dirty="0">
                <a:solidFill>
                  <a:schemeClr val="bg1"/>
                </a:solidFill>
              </a:rPr>
              <a:t>        </a:t>
            </a:r>
            <a:r>
              <a:rPr lang="en-US" sz="2600" dirty="0" err="1">
                <a:solidFill>
                  <a:schemeClr val="bg1"/>
                </a:solidFill>
              </a:rPr>
              <a:t>nextNode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  <a:r>
              <a:rPr lang="en-US" sz="2600" dirty="0" err="1">
                <a:solidFill>
                  <a:schemeClr val="bg1"/>
                </a:solidFill>
              </a:rPr>
              <a:t>current.next</a:t>
            </a:r>
            <a:endParaRPr lang="en-US" sz="2600" dirty="0">
              <a:solidFill>
                <a:schemeClr val="bg1"/>
              </a:solidFill>
            </a:endParaRP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        while </a:t>
            </a:r>
            <a:r>
              <a:rPr lang="en-US" sz="2600" dirty="0" err="1">
                <a:solidFill>
                  <a:schemeClr val="bg1"/>
                </a:solidFill>
              </a:rPr>
              <a:t>nextNode</a:t>
            </a:r>
            <a:r>
              <a:rPr lang="en-US" sz="2600" dirty="0">
                <a:solidFill>
                  <a:schemeClr val="bg1"/>
                </a:solidFill>
              </a:rPr>
              <a:t> is not equal to </a:t>
            </a:r>
            <a:r>
              <a:rPr lang="en-US" sz="2600" dirty="0" err="1">
                <a:solidFill>
                  <a:schemeClr val="bg1"/>
                </a:solidFill>
              </a:rPr>
              <a:t>nullptr</a:t>
            </a:r>
            <a:r>
              <a:rPr lang="en-US" sz="2600" dirty="0">
                <a:solidFill>
                  <a:schemeClr val="bg1"/>
                </a:solidFill>
              </a:rPr>
              <a:t>:</a:t>
            </a:r>
          </a:p>
          <a:p>
            <a:r>
              <a:rPr lang="en-US" sz="2600" dirty="0">
                <a:solidFill>
                  <a:schemeClr val="bg1"/>
                </a:solidFill>
              </a:rPr>
              <a:t>            if </a:t>
            </a:r>
            <a:r>
              <a:rPr lang="en-US" sz="2600" dirty="0" err="1">
                <a:solidFill>
                  <a:schemeClr val="bg1"/>
                </a:solidFill>
              </a:rPr>
              <a:t>nextNode.bgroup</a:t>
            </a:r>
            <a:r>
              <a:rPr lang="en-US" sz="2600" dirty="0">
                <a:solidFill>
                  <a:schemeClr val="bg1"/>
                </a:solidFill>
              </a:rPr>
              <a:t> is less than </a:t>
            </a:r>
            <a:r>
              <a:rPr lang="en-US" sz="2600" dirty="0" err="1">
                <a:solidFill>
                  <a:schemeClr val="bg1"/>
                </a:solidFill>
              </a:rPr>
              <a:t>minNode.bgroup</a:t>
            </a:r>
            <a:r>
              <a:rPr lang="en-US" sz="2600" dirty="0">
                <a:solidFill>
                  <a:schemeClr val="bg1"/>
                </a:solidFill>
              </a:rPr>
              <a:t>:</a:t>
            </a:r>
          </a:p>
          <a:p>
            <a:r>
              <a:rPr lang="en-US" sz="2600" dirty="0">
                <a:solidFill>
                  <a:schemeClr val="bg1"/>
                </a:solidFill>
              </a:rPr>
              <a:t>                set </a:t>
            </a:r>
            <a:r>
              <a:rPr lang="en-US" sz="2600" dirty="0" err="1">
                <a:solidFill>
                  <a:schemeClr val="bg1"/>
                </a:solidFill>
              </a:rPr>
              <a:t>minNode</a:t>
            </a:r>
            <a:r>
              <a:rPr lang="en-US" sz="2600" dirty="0">
                <a:solidFill>
                  <a:schemeClr val="bg1"/>
                </a:solidFill>
              </a:rPr>
              <a:t> as </a:t>
            </a:r>
            <a:r>
              <a:rPr lang="en-US" sz="2600" dirty="0" err="1">
                <a:solidFill>
                  <a:schemeClr val="bg1"/>
                </a:solidFill>
              </a:rPr>
              <a:t>nextNode</a:t>
            </a:r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            set </a:t>
            </a:r>
            <a:r>
              <a:rPr lang="en-US" sz="2600" dirty="0" err="1">
                <a:solidFill>
                  <a:schemeClr val="bg1"/>
                </a:solidFill>
              </a:rPr>
              <a:t>nextNode</a:t>
            </a:r>
            <a:r>
              <a:rPr lang="en-US" sz="2600" dirty="0">
                <a:solidFill>
                  <a:schemeClr val="bg1"/>
                </a:solidFill>
              </a:rPr>
              <a:t> as </a:t>
            </a:r>
            <a:r>
              <a:rPr lang="en-US" sz="2600" dirty="0" err="1">
                <a:solidFill>
                  <a:schemeClr val="bg1"/>
                </a:solidFill>
              </a:rPr>
              <a:t>nextNode.next</a:t>
            </a:r>
            <a:endParaRPr lang="en-US" sz="2600" dirty="0">
              <a:solidFill>
                <a:schemeClr val="bg1"/>
              </a:solidFill>
            </a:endParaRP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        if </a:t>
            </a:r>
            <a:r>
              <a:rPr lang="en-US" sz="2600" dirty="0" err="1">
                <a:solidFill>
                  <a:schemeClr val="bg1"/>
                </a:solidFill>
              </a:rPr>
              <a:t>minNode</a:t>
            </a:r>
            <a:r>
              <a:rPr lang="en-US" sz="2600" dirty="0">
                <a:solidFill>
                  <a:schemeClr val="bg1"/>
                </a:solidFill>
              </a:rPr>
              <a:t> is not equal to current:</a:t>
            </a:r>
          </a:p>
          <a:p>
            <a:r>
              <a:rPr lang="en-US" sz="2600" dirty="0">
                <a:solidFill>
                  <a:schemeClr val="bg1"/>
                </a:solidFill>
              </a:rPr>
              <a:t>            </a:t>
            </a:r>
            <a:r>
              <a:rPr lang="en-US" sz="2600" dirty="0" err="1">
                <a:solidFill>
                  <a:schemeClr val="bg1"/>
                </a:solidFill>
              </a:rPr>
              <a:t>swapData</a:t>
            </a:r>
            <a:r>
              <a:rPr lang="en-US" sz="2600" dirty="0">
                <a:solidFill>
                  <a:schemeClr val="bg1"/>
                </a:solidFill>
              </a:rPr>
              <a:t>(current, </a:t>
            </a:r>
            <a:r>
              <a:rPr lang="en-US" sz="2600" dirty="0" err="1">
                <a:solidFill>
                  <a:schemeClr val="bg1"/>
                </a:solidFill>
              </a:rPr>
              <a:t>minNode</a:t>
            </a:r>
            <a:r>
              <a:rPr lang="en-US" sz="2600" dirty="0">
                <a:solidFill>
                  <a:schemeClr val="bg1"/>
                </a:solidFill>
              </a:rPr>
              <a:t>)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        set current as </a:t>
            </a:r>
            <a:r>
              <a:rPr lang="en-US" sz="2600" dirty="0" err="1">
                <a:solidFill>
                  <a:schemeClr val="bg1"/>
                </a:solidFill>
              </a:rPr>
              <a:t>current.next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4E5CA-EA0B-0C62-E34D-DA1407357DF2}"/>
              </a:ext>
            </a:extLst>
          </p:cNvPr>
          <p:cNvSpPr txBox="1"/>
          <p:nvPr/>
        </p:nvSpPr>
        <p:spPr>
          <a:xfrm>
            <a:off x="7315200" y="1860593"/>
            <a:ext cx="358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Selection Sort</a:t>
            </a:r>
          </a:p>
        </p:txBody>
      </p:sp>
    </p:spTree>
    <p:extLst>
      <p:ext uri="{BB962C8B-B14F-4D97-AF65-F5344CB8AC3E}">
        <p14:creationId xmlns:p14="http://schemas.microsoft.com/office/powerpoint/2010/main" val="1318101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4413250"/>
            <a:ext cx="2956323" cy="3624809"/>
            <a:chOff x="0" y="0"/>
            <a:chExt cx="1000040" cy="122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4396791"/>
            <a:ext cx="2956323" cy="3624809"/>
            <a:chOff x="0" y="0"/>
            <a:chExt cx="1000040" cy="122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3411900"/>
            <a:ext cx="2956323" cy="5617800"/>
            <a:chOff x="7595" y="-9562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5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4413250"/>
            <a:ext cx="2956323" cy="3624809"/>
            <a:chOff x="0" y="0"/>
            <a:chExt cx="1000040" cy="122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4396791"/>
            <a:ext cx="2956323" cy="3624809"/>
            <a:chOff x="0" y="0"/>
            <a:chExt cx="1000040" cy="122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4353426"/>
            <a:ext cx="2956323" cy="3624809"/>
            <a:chOff x="7595" y="-9562"/>
            <a:chExt cx="1000040" cy="1226170"/>
          </a:xfrm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3449063"/>
            <a:ext cx="2956323" cy="5504437"/>
            <a:chOff x="0" y="0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4396791"/>
            <a:ext cx="2956323" cy="3624809"/>
            <a:chOff x="0" y="0"/>
            <a:chExt cx="1000040" cy="12261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629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26004"/>
            <a:ext cx="18288000" cy="4560996"/>
            <a:chOff x="0" y="0"/>
            <a:chExt cx="6186311" cy="15428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86311" cy="1542856"/>
            </a:xfrm>
            <a:custGeom>
              <a:avLst/>
              <a:gdLst/>
              <a:ahLst/>
              <a:cxnLst/>
              <a:rect l="l" t="t" r="r" b="b"/>
              <a:pathLst>
                <a:path w="6186311" h="1542856">
                  <a:moveTo>
                    <a:pt x="6061851" y="1542856"/>
                  </a:moveTo>
                  <a:lnTo>
                    <a:pt x="124460" y="1542856"/>
                  </a:lnTo>
                  <a:cubicBezTo>
                    <a:pt x="55880" y="1542856"/>
                    <a:pt x="0" y="1486976"/>
                    <a:pt x="0" y="141839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418396"/>
                  </a:lnTo>
                  <a:cubicBezTo>
                    <a:pt x="6186311" y="1486976"/>
                    <a:pt x="6130431" y="1542856"/>
                    <a:pt x="6061851" y="1542856"/>
                  </a:cubicBezTo>
                  <a:close/>
                </a:path>
              </a:pathLst>
            </a:custGeom>
            <a:solidFill>
              <a:srgbClr val="09427D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316421" y="4413250"/>
            <a:ext cx="2956323" cy="3624809"/>
            <a:chOff x="0" y="0"/>
            <a:chExt cx="1000040" cy="12261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70471" y="4396791"/>
            <a:ext cx="2956323" cy="3624809"/>
            <a:chOff x="0" y="0"/>
            <a:chExt cx="1000040" cy="12261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6973" y="4353426"/>
            <a:ext cx="2956323" cy="3624809"/>
            <a:chOff x="7595" y="-9562"/>
            <a:chExt cx="1000040" cy="1226170"/>
          </a:xfrm>
        </p:grpSpPr>
        <p:sp>
          <p:nvSpPr>
            <p:cNvPr id="9" name="Freeform 9"/>
            <p:cNvSpPr/>
            <p:nvPr/>
          </p:nvSpPr>
          <p:spPr>
            <a:xfrm>
              <a:off x="7595" y="-9562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34103" y="4396791"/>
            <a:ext cx="2956323" cy="3624809"/>
            <a:chOff x="0" y="0"/>
            <a:chExt cx="1000040" cy="12261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2977" y="3411900"/>
            <a:ext cx="2956323" cy="5389199"/>
            <a:chOff x="0" y="0"/>
            <a:chExt cx="1000040" cy="122617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0040" cy="1226170"/>
            </a:xfrm>
            <a:custGeom>
              <a:avLst/>
              <a:gdLst/>
              <a:ahLst/>
              <a:cxnLst/>
              <a:rect l="l" t="t" r="r" b="b"/>
              <a:pathLst>
                <a:path w="1000040" h="1226170">
                  <a:moveTo>
                    <a:pt x="875580" y="1226170"/>
                  </a:moveTo>
                  <a:lnTo>
                    <a:pt x="124460" y="1226170"/>
                  </a:lnTo>
                  <a:cubicBezTo>
                    <a:pt x="55880" y="1226170"/>
                    <a:pt x="0" y="1170290"/>
                    <a:pt x="0" y="110171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875580" y="0"/>
                  </a:lnTo>
                  <a:cubicBezTo>
                    <a:pt x="944160" y="0"/>
                    <a:pt x="1000040" y="55880"/>
                    <a:pt x="1000040" y="124460"/>
                  </a:cubicBezTo>
                  <a:lnTo>
                    <a:pt x="1000040" y="1101710"/>
                  </a:lnTo>
                  <a:cubicBezTo>
                    <a:pt x="1000040" y="1170290"/>
                    <a:pt x="944160" y="1226170"/>
                    <a:pt x="875580" y="122617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Freeform 14"/>
          <p:cNvSpPr/>
          <p:nvPr/>
        </p:nvSpPr>
        <p:spPr>
          <a:xfrm>
            <a:off x="235124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555680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8773952" y="5407495"/>
            <a:ext cx="1012994" cy="1012994"/>
          </a:xfrm>
          <a:custGeom>
            <a:avLst/>
            <a:gdLst/>
            <a:ahLst/>
            <a:cxnLst/>
            <a:rect l="l" t="t" r="r" b="b"/>
            <a:pathLst>
              <a:path w="1012994" h="1012994">
                <a:moveTo>
                  <a:pt x="0" y="0"/>
                </a:moveTo>
                <a:lnTo>
                  <a:pt x="1012994" y="0"/>
                </a:lnTo>
                <a:lnTo>
                  <a:pt x="1012994" y="1012994"/>
                </a:lnTo>
                <a:lnTo>
                  <a:pt x="0" y="101299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16413" y="540648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4" y="0"/>
                </a:lnTo>
                <a:lnTo>
                  <a:pt x="991704" y="991705"/>
                </a:lnTo>
                <a:lnTo>
                  <a:pt x="0" y="99170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5285285" y="5430757"/>
            <a:ext cx="991705" cy="991705"/>
          </a:xfrm>
          <a:custGeom>
            <a:avLst/>
            <a:gdLst/>
            <a:ahLst/>
            <a:cxnLst/>
            <a:rect l="l" t="t" r="r" b="b"/>
            <a:pathLst>
              <a:path w="991705" h="991705">
                <a:moveTo>
                  <a:pt x="0" y="0"/>
                </a:moveTo>
                <a:lnTo>
                  <a:pt x="991705" y="0"/>
                </a:lnTo>
                <a:lnTo>
                  <a:pt x="991705" y="991704"/>
                </a:lnTo>
                <a:lnTo>
                  <a:pt x="0" y="9917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3817284" y="1739925"/>
            <a:ext cx="10653432" cy="1499823"/>
            <a:chOff x="0" y="0"/>
            <a:chExt cx="14204575" cy="199976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0"/>
              <a:ext cx="14204575" cy="1316601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7680"/>
                </a:lnSpc>
                <a:spcBef>
                  <a:spcPct val="0"/>
                </a:spcBef>
              </a:pPr>
              <a:r>
                <a:rPr lang="en-US" sz="6600" b="1" dirty="0">
                  <a:solidFill>
                    <a:srgbClr val="FFFFFF"/>
                  </a:solidFill>
                  <a:latin typeface="Now Bold"/>
                </a:rPr>
                <a:t>SUB MENU OF DATA BASE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546137"/>
              <a:ext cx="14204575" cy="453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940"/>
                </a:lnSpc>
                <a:spcBef>
                  <a:spcPct val="0"/>
                </a:spcBef>
              </a:pPr>
              <a:endParaRPr lang="en-US" sz="2100" u="none" dirty="0">
                <a:solidFill>
                  <a:srgbClr val="FFFFFF"/>
                </a:solidFill>
                <a:latin typeface="Now Bold"/>
              </a:endParaRP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4605438" y="6648525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DELETE ENTRY BY NAME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815019" y="6660178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SORT BY NAME,</a:t>
            </a:r>
          </a:p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AGE, GENDER &amp; BLOOD GROUP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37943" y="6660178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Now"/>
              </a:rPr>
              <a:t>EXPORT TO TEXT FILE</a:t>
            </a:r>
            <a:endParaRPr lang="en-US" sz="2100" u="none" dirty="0">
              <a:solidFill>
                <a:srgbClr val="000000"/>
              </a:solidFill>
              <a:latin typeface="Now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03900" y="6648525"/>
            <a:ext cx="2886391" cy="108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SEARCH DATABASE</a:t>
            </a:r>
            <a:br>
              <a:rPr lang="en-US" sz="2100" u="none" dirty="0">
                <a:solidFill>
                  <a:srgbClr val="000000"/>
                </a:solidFill>
                <a:latin typeface="Now"/>
              </a:rPr>
            </a:br>
            <a:r>
              <a:rPr lang="en-US" sz="2100" u="none" dirty="0">
                <a:solidFill>
                  <a:srgbClr val="000000"/>
                </a:solidFill>
                <a:latin typeface="Now"/>
              </a:rPr>
              <a:t>BY NAME &amp; BLOOD GROUP</a:t>
            </a:r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BE175ABA-B70A-6024-EA8B-91C65E00D3F5}"/>
              </a:ext>
            </a:extLst>
          </p:cNvPr>
          <p:cNvSpPr txBox="1"/>
          <p:nvPr/>
        </p:nvSpPr>
        <p:spPr>
          <a:xfrm>
            <a:off x="11021590" y="6716701"/>
            <a:ext cx="2886391" cy="712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  <a:spcBef>
                <a:spcPct val="0"/>
              </a:spcBef>
            </a:pPr>
            <a:r>
              <a:rPr lang="en-US" sz="2100" u="none" dirty="0">
                <a:solidFill>
                  <a:srgbClr val="000000"/>
                </a:solidFill>
                <a:latin typeface="Now"/>
              </a:rPr>
              <a:t>VIEW WHOLE DATA BASE</a:t>
            </a:r>
          </a:p>
        </p:txBody>
      </p:sp>
      <p:pic>
        <p:nvPicPr>
          <p:cNvPr id="27" name="Graphic 26" descr="Research with solid fill">
            <a:extLst>
              <a:ext uri="{FF2B5EF4-FFF2-40B4-BE49-F238E27FC236}">
                <a16:creationId xmlns:a16="http://schemas.microsoft.com/office/drawing/2014/main" id="{E916D6AC-5257-934D-D434-EEFBFA941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77402" y="5469409"/>
            <a:ext cx="914400" cy="914400"/>
          </a:xfrm>
          <a:prstGeom prst="rect">
            <a:avLst/>
          </a:prstGeom>
        </p:spPr>
      </p:pic>
      <p:pic>
        <p:nvPicPr>
          <p:cNvPr id="30" name="Graphic 29" descr="Eraser with solid fill">
            <a:extLst>
              <a:ext uri="{FF2B5EF4-FFF2-40B4-BE49-F238E27FC236}">
                <a16:creationId xmlns:a16="http://schemas.microsoft.com/office/drawing/2014/main" id="{DC0B8559-9F22-EA03-5043-16949F89DD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92879" y="5430757"/>
            <a:ext cx="914400" cy="914400"/>
          </a:xfrm>
          <a:prstGeom prst="rect">
            <a:avLst/>
          </a:prstGeom>
        </p:spPr>
      </p:pic>
      <p:pic>
        <p:nvPicPr>
          <p:cNvPr id="32" name="Graphic 31" descr="Sort with solid fill">
            <a:extLst>
              <a:ext uri="{FF2B5EF4-FFF2-40B4-BE49-F238E27FC236}">
                <a16:creationId xmlns:a16="http://schemas.microsoft.com/office/drawing/2014/main" id="{2C0B5A5E-007D-A6CC-EC1D-C82372B64D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0660" y="5406487"/>
            <a:ext cx="914400" cy="914400"/>
          </a:xfrm>
          <a:prstGeom prst="rect">
            <a:avLst/>
          </a:prstGeom>
        </p:spPr>
      </p:pic>
      <p:pic>
        <p:nvPicPr>
          <p:cNvPr id="34" name="Graphic 33" descr="Glasses with solid fill">
            <a:extLst>
              <a:ext uri="{FF2B5EF4-FFF2-40B4-BE49-F238E27FC236}">
                <a16:creationId xmlns:a16="http://schemas.microsoft.com/office/drawing/2014/main" id="{86D817DF-601A-639D-9578-17D0AA2502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33446" y="5506089"/>
            <a:ext cx="914400" cy="914400"/>
          </a:xfrm>
          <a:prstGeom prst="rect">
            <a:avLst/>
          </a:prstGeom>
        </p:spPr>
      </p:pic>
      <p:pic>
        <p:nvPicPr>
          <p:cNvPr id="36" name="Graphic 35" descr="Document with solid fill">
            <a:extLst>
              <a:ext uri="{FF2B5EF4-FFF2-40B4-BE49-F238E27FC236}">
                <a16:creationId xmlns:a16="http://schemas.microsoft.com/office/drawing/2014/main" id="{51006414-6736-D48D-B163-0A45B38DFF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367048" y="55166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31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071204" y="2144593"/>
            <a:ext cx="8142407" cy="8142407"/>
            <a:chOff x="0" y="0"/>
            <a:chExt cx="10856543" cy="10856543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0856543" cy="10856543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994845" y="994845"/>
              <a:ext cx="8866853" cy="8866853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14478000" y="2067834"/>
            <a:ext cx="8142407" cy="8142407"/>
            <a:chOff x="0" y="0"/>
            <a:chExt cx="10856543" cy="10856543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0856543" cy="10856543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994845" y="994845"/>
              <a:ext cx="8866853" cy="8866853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4A64B8">
                  <a:alpha val="9804"/>
                </a:srgbClr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297429" y="4843337"/>
            <a:ext cx="18288000" cy="4959429"/>
            <a:chOff x="0" y="0"/>
            <a:chExt cx="6186311" cy="16776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86311" cy="1677634"/>
            </a:xfrm>
            <a:custGeom>
              <a:avLst/>
              <a:gdLst/>
              <a:ahLst/>
              <a:cxnLst/>
              <a:rect l="l" t="t" r="r" b="b"/>
              <a:pathLst>
                <a:path w="6186311" h="1677634">
                  <a:moveTo>
                    <a:pt x="6061851" y="1677634"/>
                  </a:moveTo>
                  <a:lnTo>
                    <a:pt x="124460" y="1677634"/>
                  </a:lnTo>
                  <a:cubicBezTo>
                    <a:pt x="55880" y="1677634"/>
                    <a:pt x="0" y="1621754"/>
                    <a:pt x="0" y="155317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1553174"/>
                  </a:lnTo>
                  <a:cubicBezTo>
                    <a:pt x="6186311" y="1621754"/>
                    <a:pt x="6130431" y="1677634"/>
                    <a:pt x="6061851" y="1677634"/>
                  </a:cubicBezTo>
                  <a:close/>
                </a:path>
              </a:pathLst>
            </a:custGeom>
            <a:solidFill>
              <a:srgbClr val="4A64B8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Freeform 34"/>
          <p:cNvSpPr/>
          <p:nvPr/>
        </p:nvSpPr>
        <p:spPr>
          <a:xfrm>
            <a:off x="14478000" y="902931"/>
            <a:ext cx="2770506" cy="2951271"/>
          </a:xfrm>
          <a:custGeom>
            <a:avLst/>
            <a:gdLst/>
            <a:ahLst/>
            <a:cxnLst/>
            <a:rect l="l" t="t" r="r" b="b"/>
            <a:pathLst>
              <a:path w="2770506" h="2951271">
                <a:moveTo>
                  <a:pt x="0" y="0"/>
                </a:moveTo>
                <a:lnTo>
                  <a:pt x="2770506" y="0"/>
                </a:lnTo>
                <a:lnTo>
                  <a:pt x="2770506" y="2951271"/>
                </a:lnTo>
                <a:lnTo>
                  <a:pt x="0" y="2951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191619" y="853029"/>
            <a:ext cx="2386499" cy="2951271"/>
          </a:xfrm>
          <a:custGeom>
            <a:avLst/>
            <a:gdLst/>
            <a:ahLst/>
            <a:cxnLst/>
            <a:rect l="l" t="t" r="r" b="b"/>
            <a:pathLst>
              <a:path w="2386499" h="2951271">
                <a:moveTo>
                  <a:pt x="0" y="0"/>
                </a:moveTo>
                <a:lnTo>
                  <a:pt x="2386499" y="0"/>
                </a:lnTo>
                <a:lnTo>
                  <a:pt x="2386499" y="2951271"/>
                </a:lnTo>
                <a:lnTo>
                  <a:pt x="0" y="2951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12540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3733800" y="399741"/>
            <a:ext cx="9982850" cy="927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dirty="0">
                <a:solidFill>
                  <a:srgbClr val="000000"/>
                </a:solidFill>
                <a:latin typeface="Now Bold"/>
              </a:rPr>
              <a:t>Export in Database file</a:t>
            </a:r>
            <a:endParaRPr lang="en-US" sz="6400" dirty="0">
              <a:solidFill>
                <a:srgbClr val="000000"/>
              </a:solidFill>
              <a:latin typeface="Now Bol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8231DC-34BC-C454-A3D0-E062007D13B9}"/>
              </a:ext>
            </a:extLst>
          </p:cNvPr>
          <p:cNvSpPr txBox="1"/>
          <p:nvPr/>
        </p:nvSpPr>
        <p:spPr>
          <a:xfrm>
            <a:off x="1596255" y="5095864"/>
            <a:ext cx="5334000" cy="480131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===== Database Options =====</a:t>
            </a:r>
          </a:p>
          <a:p>
            <a:r>
              <a:rPr lang="en-US" sz="1800" dirty="0">
                <a:solidFill>
                  <a:schemeClr val="bg1"/>
                </a:solidFill>
              </a:rPr>
              <a:t>5.  Sort by Name</a:t>
            </a:r>
          </a:p>
          <a:p>
            <a:r>
              <a:rPr lang="en-US" sz="1800" dirty="0">
                <a:solidFill>
                  <a:schemeClr val="bg1"/>
                </a:solidFill>
              </a:rPr>
              <a:t>6.  Sort by Age</a:t>
            </a:r>
          </a:p>
          <a:p>
            <a:r>
              <a:rPr lang="en-US" sz="1800" dirty="0">
                <a:solidFill>
                  <a:schemeClr val="bg1"/>
                </a:solidFill>
              </a:rPr>
              <a:t>7.  Sort by Gender</a:t>
            </a:r>
          </a:p>
          <a:p>
            <a:pPr marL="342900" indent="-342900">
              <a:buAutoNum type="arabicPeriod" startAt="8"/>
            </a:pPr>
            <a:r>
              <a:rPr lang="en-US" sz="1800" dirty="0">
                <a:solidFill>
                  <a:schemeClr val="bg1"/>
                </a:solidFill>
              </a:rPr>
              <a:t>Sort by Blood Group</a:t>
            </a:r>
          </a:p>
          <a:p>
            <a:pPr marL="342900" indent="-342900">
              <a:buAutoNum type="arabicPeriod" startAt="8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AutoNum type="arabicPeriod" startAt="8"/>
            </a:pP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Enter your choice: 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                              8</a:t>
            </a:r>
          </a:p>
          <a:p>
            <a:r>
              <a:rPr lang="en-US" sz="1800" dirty="0">
                <a:solidFill>
                  <a:schemeClr val="bg1"/>
                </a:solidFill>
              </a:rPr>
              <a:t>Showing Database:</a:t>
            </a:r>
          </a:p>
          <a:p>
            <a:r>
              <a:rPr lang="en-US" sz="1800" dirty="0">
                <a:solidFill>
                  <a:schemeClr val="bg1"/>
                </a:solidFill>
              </a:rPr>
              <a:t>Name  Age  Gender  Blood Group  Emergency Status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Sazin</a:t>
            </a:r>
            <a:r>
              <a:rPr lang="en-US" sz="1800" dirty="0">
                <a:solidFill>
                  <a:schemeClr val="bg1"/>
                </a:solidFill>
              </a:rPr>
              <a:t>    23    Male           A+                 0</a:t>
            </a:r>
          </a:p>
          <a:p>
            <a:r>
              <a:rPr lang="en-US" sz="1800" dirty="0">
                <a:solidFill>
                  <a:schemeClr val="bg1"/>
                </a:solidFill>
              </a:rPr>
              <a:t>Fazle    22    Male           A-                 0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Rumo</a:t>
            </a:r>
            <a:r>
              <a:rPr lang="en-US" sz="1800" dirty="0">
                <a:solidFill>
                  <a:schemeClr val="bg1"/>
                </a:solidFill>
              </a:rPr>
              <a:t>   21    Male           B+                 0</a:t>
            </a:r>
          </a:p>
          <a:p>
            <a:r>
              <a:rPr lang="en-US" dirty="0" err="1">
                <a:solidFill>
                  <a:schemeClr val="bg1"/>
                </a:solidFill>
              </a:rPr>
              <a:t>shipon</a:t>
            </a:r>
            <a:r>
              <a:rPr lang="en-US" dirty="0">
                <a:solidFill>
                  <a:schemeClr val="bg1"/>
                </a:solidFill>
              </a:rPr>
              <a:t>  20    Male           B-                 0</a:t>
            </a:r>
          </a:p>
          <a:p>
            <a:r>
              <a:rPr lang="en-US" dirty="0">
                <a:solidFill>
                  <a:schemeClr val="bg1"/>
                </a:solidFill>
              </a:rPr>
              <a:t>Mash  25    Male           O+                 0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D90781-47AF-9A4D-0664-15C0BBC0AED4}"/>
              </a:ext>
            </a:extLst>
          </p:cNvPr>
          <p:cNvSpPr txBox="1"/>
          <p:nvPr/>
        </p:nvSpPr>
        <p:spPr>
          <a:xfrm>
            <a:off x="2990772" y="4562602"/>
            <a:ext cx="1695548" cy="46166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Terminal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A5434E-67C6-7BBF-606C-EAED162EAD4C}"/>
              </a:ext>
            </a:extLst>
          </p:cNvPr>
          <p:cNvSpPr txBox="1"/>
          <p:nvPr/>
        </p:nvSpPr>
        <p:spPr>
          <a:xfrm>
            <a:off x="10341630" y="5848234"/>
            <a:ext cx="6650139" cy="224676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Name  Age  Gender  Blood Group  Emergency Status</a:t>
            </a:r>
          </a:p>
          <a:p>
            <a:r>
              <a:rPr lang="en-US" sz="2000" dirty="0" err="1"/>
              <a:t>Sazin</a:t>
            </a:r>
            <a:r>
              <a:rPr lang="en-US" sz="2000" dirty="0"/>
              <a:t>    23    Male           A+                 0</a:t>
            </a:r>
          </a:p>
          <a:p>
            <a:r>
              <a:rPr lang="en-US" sz="2000" dirty="0"/>
              <a:t>Fazle    22    Male           A-                 0</a:t>
            </a:r>
          </a:p>
          <a:p>
            <a:r>
              <a:rPr lang="en-US" sz="2000" dirty="0" err="1"/>
              <a:t>Rumo</a:t>
            </a:r>
            <a:r>
              <a:rPr lang="en-US" sz="2000" dirty="0"/>
              <a:t>   21    Male           B+                 0</a:t>
            </a:r>
          </a:p>
          <a:p>
            <a:r>
              <a:rPr lang="en-US" sz="2000" dirty="0" err="1"/>
              <a:t>shipon</a:t>
            </a:r>
            <a:r>
              <a:rPr lang="en-US" sz="2000" dirty="0"/>
              <a:t>  20    Male           B-                 0</a:t>
            </a:r>
          </a:p>
          <a:p>
            <a:r>
              <a:rPr lang="en-US" sz="2000" dirty="0"/>
              <a:t>Mash  25    Male           O+                 0</a:t>
            </a:r>
          </a:p>
          <a:p>
            <a:endParaRPr lang="en-US" sz="2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1C2291A-A1E4-8998-BBE3-45EA9D0D694D}"/>
              </a:ext>
            </a:extLst>
          </p:cNvPr>
          <p:cNvSpPr txBox="1"/>
          <p:nvPr/>
        </p:nvSpPr>
        <p:spPr>
          <a:xfrm>
            <a:off x="10341630" y="5492387"/>
            <a:ext cx="1774170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Database.txt</a:t>
            </a:r>
          </a:p>
        </p:txBody>
      </p:sp>
      <p:sp>
        <p:nvSpPr>
          <p:cNvPr id="47" name="Arrow: Curved Down 46">
            <a:extLst>
              <a:ext uri="{FF2B5EF4-FFF2-40B4-BE49-F238E27FC236}">
                <a16:creationId xmlns:a16="http://schemas.microsoft.com/office/drawing/2014/main" id="{B8B4E302-47D0-A924-9B45-0F9BF8C34FD4}"/>
              </a:ext>
            </a:extLst>
          </p:cNvPr>
          <p:cNvSpPr/>
          <p:nvPr/>
        </p:nvSpPr>
        <p:spPr>
          <a:xfrm>
            <a:off x="7119193" y="5024267"/>
            <a:ext cx="3120256" cy="957433"/>
          </a:xfrm>
          <a:prstGeom prst="curvedDown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1375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E707CD2-B9B7-EB1F-A370-873E10353736}"/>
              </a:ext>
            </a:extLst>
          </p:cNvPr>
          <p:cNvSpPr/>
          <p:nvPr/>
        </p:nvSpPr>
        <p:spPr>
          <a:xfrm>
            <a:off x="327145" y="708948"/>
            <a:ext cx="6108357" cy="1063684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270534" y="2006465"/>
            <a:ext cx="4711597" cy="2277167"/>
            <a:chOff x="-25447" y="-189004"/>
            <a:chExt cx="11820528" cy="6072446"/>
          </a:xfrm>
        </p:grpSpPr>
        <p:grpSp>
          <p:nvGrpSpPr>
            <p:cNvPr id="3" name="Group 3"/>
            <p:cNvGrpSpPr/>
            <p:nvPr/>
          </p:nvGrpSpPr>
          <p:grpSpPr>
            <a:xfrm>
              <a:off x="-25447" y="-189004"/>
              <a:ext cx="11820528" cy="6072446"/>
              <a:chOff x="-6456" y="-47951"/>
              <a:chExt cx="2998912" cy="15406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-6456" y="-47951"/>
                <a:ext cx="2998912" cy="1540602"/>
              </a:xfrm>
              <a:custGeom>
                <a:avLst/>
                <a:gdLst/>
                <a:ahLst/>
                <a:cxnLst/>
                <a:rect l="l" t="t" r="r" b="b"/>
                <a:pathLst>
                  <a:path w="2998912" h="1540602">
                    <a:moveTo>
                      <a:pt x="2874452" y="1540602"/>
                    </a:moveTo>
                    <a:lnTo>
                      <a:pt x="124460" y="1540602"/>
                    </a:lnTo>
                    <a:cubicBezTo>
                      <a:pt x="55880" y="1540602"/>
                      <a:pt x="0" y="1484722"/>
                      <a:pt x="0" y="1416142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874452" y="0"/>
                    </a:lnTo>
                    <a:cubicBezTo>
                      <a:pt x="2943032" y="0"/>
                      <a:pt x="2998912" y="55880"/>
                      <a:pt x="2998912" y="124460"/>
                    </a:cubicBezTo>
                    <a:lnTo>
                      <a:pt x="2998912" y="1416142"/>
                    </a:lnTo>
                    <a:cubicBezTo>
                      <a:pt x="2998912" y="1484722"/>
                      <a:pt x="2943032" y="1540602"/>
                      <a:pt x="2874452" y="1540602"/>
                    </a:cubicBezTo>
                    <a:close/>
                  </a:path>
                </a:pathLst>
              </a:custGeom>
              <a:solidFill>
                <a:srgbClr val="09427D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1553371" y="2370932"/>
              <a:ext cx="10241710" cy="9525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520"/>
                </a:lnSpc>
                <a:spcBef>
                  <a:spcPct val="0"/>
                </a:spcBef>
              </a:pPr>
              <a:r>
                <a:rPr lang="en-US" sz="4000" dirty="0">
                  <a:solidFill>
                    <a:srgbClr val="F5F5EF"/>
                  </a:solidFill>
                  <a:latin typeface="Now"/>
                </a:rPr>
                <a:t>Count disease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35959" y="1521364"/>
            <a:ext cx="6354509" cy="2833144"/>
            <a:chOff x="0" y="0"/>
            <a:chExt cx="2752153" cy="16757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52153" cy="1675762"/>
            </a:xfrm>
            <a:custGeom>
              <a:avLst/>
              <a:gdLst/>
              <a:ahLst/>
              <a:cxnLst/>
              <a:rect l="l" t="t" r="r" b="b"/>
              <a:pathLst>
                <a:path w="2752153" h="1675762">
                  <a:moveTo>
                    <a:pt x="2627693" y="1675762"/>
                  </a:moveTo>
                  <a:lnTo>
                    <a:pt x="124460" y="1675762"/>
                  </a:lnTo>
                  <a:cubicBezTo>
                    <a:pt x="55880" y="1675762"/>
                    <a:pt x="0" y="1619882"/>
                    <a:pt x="0" y="155130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627693" y="0"/>
                  </a:lnTo>
                  <a:cubicBezTo>
                    <a:pt x="2696273" y="0"/>
                    <a:pt x="2752153" y="55880"/>
                    <a:pt x="2752153" y="124460"/>
                  </a:cubicBezTo>
                  <a:lnTo>
                    <a:pt x="2752153" y="1551303"/>
                  </a:lnTo>
                  <a:cubicBezTo>
                    <a:pt x="2752153" y="1619882"/>
                    <a:pt x="2696273" y="1675762"/>
                    <a:pt x="2627693" y="1675762"/>
                  </a:cubicBezTo>
                  <a:close/>
                </a:path>
              </a:pathLst>
            </a:custGeom>
            <a:solidFill>
              <a:srgbClr val="162942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335959" y="1224813"/>
            <a:ext cx="6354509" cy="3177255"/>
            <a:chOff x="0" y="0"/>
            <a:chExt cx="8472678" cy="4236341"/>
          </a:xfrm>
        </p:grpSpPr>
        <p:sp>
          <p:nvSpPr>
            <p:cNvPr id="9" name="Freeform 9"/>
            <p:cNvSpPr/>
            <p:nvPr/>
          </p:nvSpPr>
          <p:spPr>
            <a:xfrm rot="-10800000">
              <a:off x="0" y="0"/>
              <a:ext cx="8472678" cy="4236339"/>
            </a:xfrm>
            <a:custGeom>
              <a:avLst/>
              <a:gdLst/>
              <a:ahLst/>
              <a:cxnLst/>
              <a:rect l="l" t="t" r="r" b="b"/>
              <a:pathLst>
                <a:path w="8472678" h="4236339">
                  <a:moveTo>
                    <a:pt x="0" y="0"/>
                  </a:moveTo>
                  <a:lnTo>
                    <a:pt x="8472678" y="0"/>
                  </a:lnTo>
                  <a:lnTo>
                    <a:pt x="8472678" y="4236339"/>
                  </a:lnTo>
                  <a:lnTo>
                    <a:pt x="0" y="4236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 rot="10800000">
              <a:off x="884291" y="884291"/>
              <a:ext cx="6704097" cy="3352050"/>
            </a:xfrm>
            <a:custGeom>
              <a:avLst/>
              <a:gdLst/>
              <a:ahLst/>
              <a:cxnLst/>
              <a:rect l="l" t="t" r="r" b="b"/>
              <a:pathLst>
                <a:path w="6704097" h="3352049">
                  <a:moveTo>
                    <a:pt x="0" y="0"/>
                  </a:moveTo>
                  <a:lnTo>
                    <a:pt x="6704097" y="0"/>
                  </a:lnTo>
                  <a:lnTo>
                    <a:pt x="6704097" y="3352048"/>
                  </a:lnTo>
                  <a:lnTo>
                    <a:pt x="0" y="3352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9999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2682538" y="-251668"/>
            <a:ext cx="3482343" cy="4606176"/>
          </a:xfrm>
          <a:custGeom>
            <a:avLst/>
            <a:gdLst/>
            <a:ahLst/>
            <a:cxnLst/>
            <a:rect l="l" t="t" r="r" b="b"/>
            <a:pathLst>
              <a:path w="4711597" h="5670834">
                <a:moveTo>
                  <a:pt x="0" y="0"/>
                </a:moveTo>
                <a:lnTo>
                  <a:pt x="4711597" y="0"/>
                </a:lnTo>
                <a:lnTo>
                  <a:pt x="4711597" y="5670834"/>
                </a:lnTo>
                <a:lnTo>
                  <a:pt x="0" y="5670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33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746731" y="708948"/>
            <a:ext cx="8865396" cy="1063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6400" dirty="0">
                <a:solidFill>
                  <a:srgbClr val="F5F5EF"/>
                </a:solidFill>
                <a:latin typeface="Now Bold"/>
              </a:rPr>
              <a:t>Improvements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209687" y="1000125"/>
            <a:ext cx="404961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9"/>
              </a:lnSpc>
              <a:spcBef>
                <a:spcPct val="0"/>
              </a:spcBef>
            </a:pPr>
            <a:endParaRPr lang="en-US" sz="1400" spc="151" dirty="0">
              <a:solidFill>
                <a:srgbClr val="FFFFFF"/>
              </a:solidFill>
              <a:latin typeface="Now Medium"/>
            </a:endParaRPr>
          </a:p>
        </p:txBody>
      </p:sp>
      <p:sp>
        <p:nvSpPr>
          <p:cNvPr id="16" name="Freeform 4">
            <a:extLst>
              <a:ext uri="{FF2B5EF4-FFF2-40B4-BE49-F238E27FC236}">
                <a16:creationId xmlns:a16="http://schemas.microsoft.com/office/drawing/2014/main" id="{B34301B0-310B-C4DD-3556-8B32BC2BB5A4}"/>
              </a:ext>
            </a:extLst>
          </p:cNvPr>
          <p:cNvSpPr/>
          <p:nvPr/>
        </p:nvSpPr>
        <p:spPr>
          <a:xfrm>
            <a:off x="307405" y="4686179"/>
            <a:ext cx="4711597" cy="2277167"/>
          </a:xfrm>
          <a:custGeom>
            <a:avLst/>
            <a:gdLst/>
            <a:ahLst/>
            <a:cxnLst/>
            <a:rect l="l" t="t" r="r" b="b"/>
            <a:pathLst>
              <a:path w="2998912" h="1540602">
                <a:moveTo>
                  <a:pt x="2874452" y="1540602"/>
                </a:moveTo>
                <a:lnTo>
                  <a:pt x="124460" y="1540602"/>
                </a:lnTo>
                <a:cubicBezTo>
                  <a:pt x="55880" y="1540602"/>
                  <a:pt x="0" y="1484722"/>
                  <a:pt x="0" y="141614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74452" y="0"/>
                </a:lnTo>
                <a:cubicBezTo>
                  <a:pt x="2943032" y="0"/>
                  <a:pt x="2998912" y="55880"/>
                  <a:pt x="2998912" y="124460"/>
                </a:cubicBezTo>
                <a:lnTo>
                  <a:pt x="2998912" y="1416142"/>
                </a:lnTo>
                <a:cubicBezTo>
                  <a:pt x="2998912" y="1484722"/>
                  <a:pt x="2943032" y="1540602"/>
                  <a:pt x="2874452" y="1540602"/>
                </a:cubicBezTo>
                <a:close/>
              </a:path>
            </a:pathLst>
          </a:custGeom>
          <a:solidFill>
            <a:srgbClr val="09427D"/>
          </a:solidFill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     </a:t>
            </a:r>
          </a:p>
          <a:p>
            <a:r>
              <a:rPr lang="en-US" sz="4400" dirty="0">
                <a:solidFill>
                  <a:schemeClr val="bg1"/>
                </a:solidFill>
              </a:rPr>
              <a:t>   Doctor allotment</a:t>
            </a:r>
          </a:p>
        </p:txBody>
      </p:sp>
      <p:sp>
        <p:nvSpPr>
          <p:cNvPr id="17" name="Freeform 4">
            <a:extLst>
              <a:ext uri="{FF2B5EF4-FFF2-40B4-BE49-F238E27FC236}">
                <a16:creationId xmlns:a16="http://schemas.microsoft.com/office/drawing/2014/main" id="{2883DAA9-E608-FD87-7645-B56AD6BD744B}"/>
              </a:ext>
            </a:extLst>
          </p:cNvPr>
          <p:cNvSpPr/>
          <p:nvPr/>
        </p:nvSpPr>
        <p:spPr>
          <a:xfrm>
            <a:off x="5638800" y="4793909"/>
            <a:ext cx="4711597" cy="2277167"/>
          </a:xfrm>
          <a:custGeom>
            <a:avLst/>
            <a:gdLst/>
            <a:ahLst/>
            <a:cxnLst/>
            <a:rect l="l" t="t" r="r" b="b"/>
            <a:pathLst>
              <a:path w="2998912" h="1540602">
                <a:moveTo>
                  <a:pt x="2874452" y="1540602"/>
                </a:moveTo>
                <a:lnTo>
                  <a:pt x="124460" y="1540602"/>
                </a:lnTo>
                <a:cubicBezTo>
                  <a:pt x="55880" y="1540602"/>
                  <a:pt x="0" y="1484722"/>
                  <a:pt x="0" y="141614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74452" y="0"/>
                </a:lnTo>
                <a:cubicBezTo>
                  <a:pt x="2943032" y="0"/>
                  <a:pt x="2998912" y="55880"/>
                  <a:pt x="2998912" y="124460"/>
                </a:cubicBezTo>
                <a:lnTo>
                  <a:pt x="2998912" y="1416142"/>
                </a:lnTo>
                <a:cubicBezTo>
                  <a:pt x="2998912" y="1484722"/>
                  <a:pt x="2943032" y="1540602"/>
                  <a:pt x="2874452" y="1540602"/>
                </a:cubicBezTo>
                <a:close/>
              </a:path>
            </a:pathLst>
          </a:custGeom>
          <a:solidFill>
            <a:srgbClr val="09427D"/>
          </a:solidFill>
        </p:spPr>
        <p:txBody>
          <a:bodyPr/>
          <a:lstStyle/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    Storage Medical</a:t>
            </a:r>
          </a:p>
        </p:txBody>
      </p:sp>
      <p:sp>
        <p:nvSpPr>
          <p:cNvPr id="18" name="Freeform 4">
            <a:extLst>
              <a:ext uri="{FF2B5EF4-FFF2-40B4-BE49-F238E27FC236}">
                <a16:creationId xmlns:a16="http://schemas.microsoft.com/office/drawing/2014/main" id="{C7330F0C-1456-F047-5908-D12B01F90368}"/>
              </a:ext>
            </a:extLst>
          </p:cNvPr>
          <p:cNvSpPr/>
          <p:nvPr/>
        </p:nvSpPr>
        <p:spPr>
          <a:xfrm>
            <a:off x="11734800" y="7874633"/>
            <a:ext cx="4711597" cy="2277167"/>
          </a:xfrm>
          <a:custGeom>
            <a:avLst/>
            <a:gdLst/>
            <a:ahLst/>
            <a:cxnLst/>
            <a:rect l="l" t="t" r="r" b="b"/>
            <a:pathLst>
              <a:path w="2998912" h="1540602">
                <a:moveTo>
                  <a:pt x="2874452" y="1540602"/>
                </a:moveTo>
                <a:lnTo>
                  <a:pt x="124460" y="1540602"/>
                </a:lnTo>
                <a:cubicBezTo>
                  <a:pt x="55880" y="1540602"/>
                  <a:pt x="0" y="1484722"/>
                  <a:pt x="0" y="141614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74452" y="0"/>
                </a:lnTo>
                <a:cubicBezTo>
                  <a:pt x="2943032" y="0"/>
                  <a:pt x="2998912" y="55880"/>
                  <a:pt x="2998912" y="124460"/>
                </a:cubicBezTo>
                <a:lnTo>
                  <a:pt x="2998912" y="1416142"/>
                </a:lnTo>
                <a:cubicBezTo>
                  <a:pt x="2998912" y="1484722"/>
                  <a:pt x="2943032" y="1540602"/>
                  <a:pt x="2874452" y="1540602"/>
                </a:cubicBezTo>
                <a:close/>
              </a:path>
            </a:pathLst>
          </a:custGeom>
          <a:solidFill>
            <a:srgbClr val="09427D"/>
          </a:solidFill>
        </p:spPr>
        <p:txBody>
          <a:bodyPr/>
          <a:lstStyle/>
          <a:p>
            <a:pPr algn="ctr"/>
            <a:endParaRPr lang="en-US" sz="4400">
              <a:solidFill>
                <a:schemeClr val="bg1"/>
              </a:solidFill>
            </a:endParaRPr>
          </a:p>
          <a:p>
            <a:pPr algn="ctr"/>
            <a:r>
              <a:rPr lang="en-US" sz="4400">
                <a:solidFill>
                  <a:schemeClr val="bg1"/>
                </a:solidFill>
              </a:rPr>
              <a:t>Priotaritizing</a:t>
            </a:r>
            <a:r>
              <a:rPr lang="en-US" sz="4400" dirty="0">
                <a:solidFill>
                  <a:schemeClr val="bg1"/>
                </a:solidFill>
              </a:rPr>
              <a:t> Child cases</a:t>
            </a:r>
          </a:p>
        </p:txBody>
      </p:sp>
      <p:sp>
        <p:nvSpPr>
          <p:cNvPr id="19" name="Freeform 4">
            <a:extLst>
              <a:ext uri="{FF2B5EF4-FFF2-40B4-BE49-F238E27FC236}">
                <a16:creationId xmlns:a16="http://schemas.microsoft.com/office/drawing/2014/main" id="{C286C7CE-299C-82B5-9209-36BBEAA0723F}"/>
              </a:ext>
            </a:extLst>
          </p:cNvPr>
          <p:cNvSpPr/>
          <p:nvPr/>
        </p:nvSpPr>
        <p:spPr>
          <a:xfrm>
            <a:off x="270534" y="7799885"/>
            <a:ext cx="4711597" cy="2277167"/>
          </a:xfrm>
          <a:custGeom>
            <a:avLst/>
            <a:gdLst/>
            <a:ahLst/>
            <a:cxnLst/>
            <a:rect l="l" t="t" r="r" b="b"/>
            <a:pathLst>
              <a:path w="2998912" h="1540602">
                <a:moveTo>
                  <a:pt x="2874452" y="1540602"/>
                </a:moveTo>
                <a:lnTo>
                  <a:pt x="124460" y="1540602"/>
                </a:lnTo>
                <a:cubicBezTo>
                  <a:pt x="55880" y="1540602"/>
                  <a:pt x="0" y="1484722"/>
                  <a:pt x="0" y="141614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74452" y="0"/>
                </a:lnTo>
                <a:cubicBezTo>
                  <a:pt x="2943032" y="0"/>
                  <a:pt x="2998912" y="55880"/>
                  <a:pt x="2998912" y="124460"/>
                </a:cubicBezTo>
                <a:lnTo>
                  <a:pt x="2998912" y="1416142"/>
                </a:lnTo>
                <a:cubicBezTo>
                  <a:pt x="2998912" y="1484722"/>
                  <a:pt x="2943032" y="1540602"/>
                  <a:pt x="2874452" y="1540602"/>
                </a:cubicBezTo>
                <a:close/>
              </a:path>
            </a:pathLst>
          </a:custGeom>
          <a:solidFill>
            <a:srgbClr val="09427D"/>
          </a:solidFill>
        </p:spPr>
        <p:txBody>
          <a:bodyPr/>
          <a:lstStyle/>
          <a:p>
            <a:pPr algn="ctr"/>
            <a:r>
              <a:rPr lang="en-US" sz="4800" dirty="0" err="1">
                <a:solidFill>
                  <a:schemeClr val="bg1"/>
                </a:solidFill>
              </a:rPr>
              <a:t>Ambulence</a:t>
            </a:r>
            <a:r>
              <a:rPr lang="en-US" sz="4800" dirty="0">
                <a:solidFill>
                  <a:schemeClr val="bg1"/>
                </a:solidFill>
              </a:rPr>
              <a:t>     services</a:t>
            </a:r>
          </a:p>
        </p:txBody>
      </p:sp>
      <p:sp>
        <p:nvSpPr>
          <p:cNvPr id="20" name="Freeform 4">
            <a:extLst>
              <a:ext uri="{FF2B5EF4-FFF2-40B4-BE49-F238E27FC236}">
                <a16:creationId xmlns:a16="http://schemas.microsoft.com/office/drawing/2014/main" id="{BC02826F-57CB-12FC-24D0-3FF0B4C2A706}"/>
              </a:ext>
            </a:extLst>
          </p:cNvPr>
          <p:cNvSpPr/>
          <p:nvPr/>
        </p:nvSpPr>
        <p:spPr>
          <a:xfrm>
            <a:off x="5791200" y="7781049"/>
            <a:ext cx="4711597" cy="2277167"/>
          </a:xfrm>
          <a:custGeom>
            <a:avLst/>
            <a:gdLst/>
            <a:ahLst/>
            <a:cxnLst/>
            <a:rect l="l" t="t" r="r" b="b"/>
            <a:pathLst>
              <a:path w="2998912" h="1540602">
                <a:moveTo>
                  <a:pt x="2874452" y="1540602"/>
                </a:moveTo>
                <a:lnTo>
                  <a:pt x="124460" y="1540602"/>
                </a:lnTo>
                <a:cubicBezTo>
                  <a:pt x="55880" y="1540602"/>
                  <a:pt x="0" y="1484722"/>
                  <a:pt x="0" y="1416142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74452" y="0"/>
                </a:lnTo>
                <a:cubicBezTo>
                  <a:pt x="2943032" y="0"/>
                  <a:pt x="2998912" y="55880"/>
                  <a:pt x="2998912" y="124460"/>
                </a:cubicBezTo>
                <a:lnTo>
                  <a:pt x="2998912" y="1416142"/>
                </a:lnTo>
                <a:cubicBezTo>
                  <a:pt x="2998912" y="1484722"/>
                  <a:pt x="2943032" y="1540602"/>
                  <a:pt x="2874452" y="1540602"/>
                </a:cubicBezTo>
                <a:close/>
              </a:path>
            </a:pathLst>
          </a:custGeom>
          <a:solidFill>
            <a:srgbClr val="09427D"/>
          </a:solidFill>
        </p:spPr>
        <p:txBody>
          <a:bodyPr/>
          <a:lstStyle/>
          <a:p>
            <a:endParaRPr lang="en-US" sz="4400" dirty="0">
              <a:solidFill>
                <a:schemeClr val="bg1"/>
              </a:solidFill>
            </a:endParaRPr>
          </a:p>
          <a:p>
            <a:r>
              <a:rPr lang="en-US" sz="4400" dirty="0">
                <a:solidFill>
                  <a:schemeClr val="bg1"/>
                </a:solidFill>
              </a:rPr>
              <a:t>    Room vacancy</a:t>
            </a:r>
          </a:p>
        </p:txBody>
      </p:sp>
    </p:spTree>
    <p:extLst>
      <p:ext uri="{BB962C8B-B14F-4D97-AF65-F5344CB8AC3E}">
        <p14:creationId xmlns:p14="http://schemas.microsoft.com/office/powerpoint/2010/main" val="19064749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2800" y="800100"/>
            <a:ext cx="1257300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8000" dirty="0">
                <a:latin typeface="Algerian" panose="04020705040A02060702" pitchFamily="82" charset="0"/>
              </a:rPr>
              <a:t>THANK YOU</a:t>
            </a:r>
          </a:p>
          <a:p>
            <a:pPr marL="0" lvl="0" indent="0" algn="ctr">
              <a:lnSpc>
                <a:spcPts val="7679"/>
              </a:lnSpc>
            </a:pPr>
            <a:endParaRPr lang="en-US" sz="7999" spc="-767" dirty="0">
              <a:solidFill>
                <a:srgbClr val="156669"/>
              </a:solidFill>
              <a:latin typeface="Public Sans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4087744"/>
            <a:ext cx="5276675" cy="4821694"/>
            <a:chOff x="0" y="0"/>
            <a:chExt cx="1721972" cy="15734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1972" cy="1573495"/>
            </a:xfrm>
            <a:custGeom>
              <a:avLst/>
              <a:gdLst/>
              <a:ahLst/>
              <a:cxnLst/>
              <a:rect l="l" t="t" r="r" b="b"/>
              <a:pathLst>
                <a:path w="1721972" h="1573495">
                  <a:moveTo>
                    <a:pt x="22008" y="0"/>
                  </a:moveTo>
                  <a:lnTo>
                    <a:pt x="1699964" y="0"/>
                  </a:lnTo>
                  <a:cubicBezTo>
                    <a:pt x="1705801" y="0"/>
                    <a:pt x="1711399" y="2319"/>
                    <a:pt x="1715526" y="6446"/>
                  </a:cubicBezTo>
                  <a:cubicBezTo>
                    <a:pt x="1719654" y="10573"/>
                    <a:pt x="1721972" y="16171"/>
                    <a:pt x="1721972" y="22008"/>
                  </a:cubicBezTo>
                  <a:lnTo>
                    <a:pt x="1721972" y="1551487"/>
                  </a:lnTo>
                  <a:cubicBezTo>
                    <a:pt x="1721972" y="1563642"/>
                    <a:pt x="1712119" y="1573495"/>
                    <a:pt x="1699964" y="1573495"/>
                  </a:cubicBezTo>
                  <a:lnTo>
                    <a:pt x="22008" y="1573495"/>
                  </a:lnTo>
                  <a:cubicBezTo>
                    <a:pt x="16171" y="1573495"/>
                    <a:pt x="10573" y="1571177"/>
                    <a:pt x="6446" y="1567050"/>
                  </a:cubicBezTo>
                  <a:cubicBezTo>
                    <a:pt x="2319" y="1562922"/>
                    <a:pt x="0" y="1557324"/>
                    <a:pt x="0" y="1551487"/>
                  </a:cubicBezTo>
                  <a:lnTo>
                    <a:pt x="0" y="22008"/>
                  </a:lnTo>
                  <a:cubicBezTo>
                    <a:pt x="0" y="16171"/>
                    <a:pt x="2319" y="10573"/>
                    <a:pt x="6446" y="6446"/>
                  </a:cubicBezTo>
                  <a:cubicBezTo>
                    <a:pt x="10573" y="2319"/>
                    <a:pt x="16171" y="0"/>
                    <a:pt x="22008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81738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6505688" y="4087744"/>
            <a:ext cx="5276675" cy="4821694"/>
            <a:chOff x="0" y="0"/>
            <a:chExt cx="1721972" cy="15734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21972" cy="1573495"/>
            </a:xfrm>
            <a:custGeom>
              <a:avLst/>
              <a:gdLst/>
              <a:ahLst/>
              <a:cxnLst/>
              <a:rect l="l" t="t" r="r" b="b"/>
              <a:pathLst>
                <a:path w="1721972" h="1573495">
                  <a:moveTo>
                    <a:pt x="22008" y="0"/>
                  </a:moveTo>
                  <a:lnTo>
                    <a:pt x="1699964" y="0"/>
                  </a:lnTo>
                  <a:cubicBezTo>
                    <a:pt x="1705801" y="0"/>
                    <a:pt x="1711399" y="2319"/>
                    <a:pt x="1715526" y="6446"/>
                  </a:cubicBezTo>
                  <a:cubicBezTo>
                    <a:pt x="1719654" y="10573"/>
                    <a:pt x="1721972" y="16171"/>
                    <a:pt x="1721972" y="22008"/>
                  </a:cubicBezTo>
                  <a:lnTo>
                    <a:pt x="1721972" y="1551487"/>
                  </a:lnTo>
                  <a:cubicBezTo>
                    <a:pt x="1721972" y="1563642"/>
                    <a:pt x="1712119" y="1573495"/>
                    <a:pt x="1699964" y="1573495"/>
                  </a:cubicBezTo>
                  <a:lnTo>
                    <a:pt x="22008" y="1573495"/>
                  </a:lnTo>
                  <a:cubicBezTo>
                    <a:pt x="16171" y="1573495"/>
                    <a:pt x="10573" y="1571177"/>
                    <a:pt x="6446" y="1567050"/>
                  </a:cubicBezTo>
                  <a:cubicBezTo>
                    <a:pt x="2319" y="1562922"/>
                    <a:pt x="0" y="1557324"/>
                    <a:pt x="0" y="1551487"/>
                  </a:cubicBezTo>
                  <a:lnTo>
                    <a:pt x="0" y="22008"/>
                  </a:lnTo>
                  <a:cubicBezTo>
                    <a:pt x="0" y="16171"/>
                    <a:pt x="2319" y="10573"/>
                    <a:pt x="6446" y="6446"/>
                  </a:cubicBezTo>
                  <a:cubicBezTo>
                    <a:pt x="10573" y="2319"/>
                    <a:pt x="16171" y="0"/>
                    <a:pt x="22008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258726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1982625" y="4087744"/>
            <a:ext cx="5276675" cy="4821694"/>
            <a:chOff x="0" y="0"/>
            <a:chExt cx="1721972" cy="157349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21972" cy="1573495"/>
            </a:xfrm>
            <a:custGeom>
              <a:avLst/>
              <a:gdLst/>
              <a:ahLst/>
              <a:cxnLst/>
              <a:rect l="l" t="t" r="r" b="b"/>
              <a:pathLst>
                <a:path w="1721972" h="1573495">
                  <a:moveTo>
                    <a:pt x="22008" y="0"/>
                  </a:moveTo>
                  <a:lnTo>
                    <a:pt x="1699964" y="0"/>
                  </a:lnTo>
                  <a:cubicBezTo>
                    <a:pt x="1705801" y="0"/>
                    <a:pt x="1711399" y="2319"/>
                    <a:pt x="1715526" y="6446"/>
                  </a:cubicBezTo>
                  <a:cubicBezTo>
                    <a:pt x="1719654" y="10573"/>
                    <a:pt x="1721972" y="16171"/>
                    <a:pt x="1721972" y="22008"/>
                  </a:cubicBezTo>
                  <a:lnTo>
                    <a:pt x="1721972" y="1551487"/>
                  </a:lnTo>
                  <a:cubicBezTo>
                    <a:pt x="1721972" y="1563642"/>
                    <a:pt x="1712119" y="1573495"/>
                    <a:pt x="1699964" y="1573495"/>
                  </a:cubicBezTo>
                  <a:lnTo>
                    <a:pt x="22008" y="1573495"/>
                  </a:lnTo>
                  <a:cubicBezTo>
                    <a:pt x="16171" y="1573495"/>
                    <a:pt x="10573" y="1571177"/>
                    <a:pt x="6446" y="1567050"/>
                  </a:cubicBezTo>
                  <a:cubicBezTo>
                    <a:pt x="2319" y="1562922"/>
                    <a:pt x="0" y="1557324"/>
                    <a:pt x="0" y="1551487"/>
                  </a:cubicBezTo>
                  <a:lnTo>
                    <a:pt x="0" y="22008"/>
                  </a:lnTo>
                  <a:cubicBezTo>
                    <a:pt x="0" y="16171"/>
                    <a:pt x="2319" y="10573"/>
                    <a:pt x="6446" y="6446"/>
                  </a:cubicBezTo>
                  <a:cubicBezTo>
                    <a:pt x="10573" y="2319"/>
                    <a:pt x="16171" y="0"/>
                    <a:pt x="22008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721972" cy="16115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735663" y="5963102"/>
            <a:ext cx="3770599" cy="297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48"/>
              </a:lnSpc>
              <a:spcBef>
                <a:spcPct val="0"/>
              </a:spcBef>
            </a:pPr>
            <a:r>
              <a:rPr lang="en-US" sz="1624" u="none" strike="noStrike" dirty="0">
                <a:solidFill>
                  <a:srgbClr val="156669"/>
                </a:solidFill>
                <a:latin typeface="Agrandir Medium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DB1289-EF2F-B7E5-5724-179F352DE602}"/>
              </a:ext>
            </a:extLst>
          </p:cNvPr>
          <p:cNvSpPr txBox="1"/>
          <p:nvPr/>
        </p:nvSpPr>
        <p:spPr>
          <a:xfrm>
            <a:off x="1452980" y="4686300"/>
            <a:ext cx="42996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Md. </a:t>
            </a:r>
            <a:r>
              <a:rPr lang="en-US" sz="4400" dirty="0" err="1">
                <a:latin typeface="Algerian" panose="04020705040A02060702" pitchFamily="82" charset="0"/>
              </a:rPr>
              <a:t>Mashrafi</a:t>
            </a:r>
            <a:r>
              <a:rPr lang="en-US" sz="4400" dirty="0">
                <a:latin typeface="Algerian" panose="04020705040A02060702" pitchFamily="82" charset="0"/>
              </a:rPr>
              <a:t> Zaman</a:t>
            </a:r>
          </a:p>
          <a:p>
            <a:r>
              <a:rPr lang="en-US" sz="4400" dirty="0">
                <a:latin typeface="Algerian" panose="04020705040A02060702" pitchFamily="82" charset="0"/>
              </a:rPr>
              <a:t>Roll : 2009005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7604FF-00BA-F07C-14E2-86D30995132D}"/>
              </a:ext>
            </a:extLst>
          </p:cNvPr>
          <p:cNvSpPr txBox="1"/>
          <p:nvPr/>
        </p:nvSpPr>
        <p:spPr>
          <a:xfrm>
            <a:off x="7032166" y="4777903"/>
            <a:ext cx="42996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Maisha Mehnaz</a:t>
            </a:r>
          </a:p>
          <a:p>
            <a:r>
              <a:rPr lang="en-US" sz="4400" dirty="0">
                <a:latin typeface="Algerian" panose="04020705040A02060702" pitchFamily="82" charset="0"/>
              </a:rPr>
              <a:t>Roll : 2009018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E32920-6733-E7FE-EE74-7B65AC8EC8C6}"/>
              </a:ext>
            </a:extLst>
          </p:cNvPr>
          <p:cNvSpPr txBox="1"/>
          <p:nvPr/>
        </p:nvSpPr>
        <p:spPr>
          <a:xfrm>
            <a:off x="12640961" y="4894654"/>
            <a:ext cx="42996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" panose="04020705040A02060702" pitchFamily="82" charset="0"/>
              </a:rPr>
              <a:t>Fazle rabbi </a:t>
            </a:r>
            <a:r>
              <a:rPr lang="en-US" sz="4400" dirty="0" err="1">
                <a:latin typeface="Algerian" panose="04020705040A02060702" pitchFamily="82" charset="0"/>
              </a:rPr>
              <a:t>nipun</a:t>
            </a:r>
            <a:endParaRPr lang="en-US" sz="4400" dirty="0">
              <a:latin typeface="Algerian" panose="04020705040A02060702" pitchFamily="82" charset="0"/>
            </a:endParaRPr>
          </a:p>
          <a:p>
            <a:r>
              <a:rPr lang="en-US" sz="4400" dirty="0">
                <a:latin typeface="Algerian" panose="04020705040A02060702" pitchFamily="82" charset="0"/>
              </a:rPr>
              <a:t>Roll : 2009014</a:t>
            </a:r>
          </a:p>
        </p:txBody>
      </p:sp>
    </p:spTree>
    <p:extLst>
      <p:ext uri="{BB962C8B-B14F-4D97-AF65-F5344CB8AC3E}">
        <p14:creationId xmlns:p14="http://schemas.microsoft.com/office/powerpoint/2010/main" val="1426014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1437</Words>
  <Application>Microsoft Office PowerPoint</Application>
  <PresentationFormat>Custom</PresentationFormat>
  <Paragraphs>364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Agrandir Medium</vt:lpstr>
      <vt:lpstr>Calibri</vt:lpstr>
      <vt:lpstr>Public Sans</vt:lpstr>
      <vt:lpstr>Alfa Slab One</vt:lpstr>
      <vt:lpstr>Elephant</vt:lpstr>
      <vt:lpstr>Now</vt:lpstr>
      <vt:lpstr>Now Medium</vt:lpstr>
      <vt:lpstr>Algerian</vt:lpstr>
      <vt:lpstr>Arial</vt:lpstr>
      <vt:lpstr>Arial Black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</dc:title>
  <cp:lastModifiedBy>Maisha Mehnaz</cp:lastModifiedBy>
  <cp:revision>21</cp:revision>
  <dcterms:created xsi:type="dcterms:W3CDTF">2006-08-16T00:00:00Z</dcterms:created>
  <dcterms:modified xsi:type="dcterms:W3CDTF">2023-11-12T09:08:02Z</dcterms:modified>
  <dc:identifier>DAFzvKiu7qA</dc:identifier>
</cp:coreProperties>
</file>